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CODE CARNIVAL 3.0</a:t>
            </a:r>
          </a:p>
          <a:p>
            <a:r>
              <a:t>Presenter: Divya Gohil</a:t>
            </a:r>
          </a:p>
          <a:p>
            <a:r>
              <a:t>Timing: 00:00–00:35 (35 seconds)</a:t>
            </a:r>
          </a:p>
          <a:p/>
          <a:p>
            <a:r>
              <a:t>SUGGESTED TALK TRACK</a:t>
            </a:r>
          </a:p>
          <a:p>
            <a:r>
              <a:t>Hello, we are team Doclock, M87V. I am Divya Gohil, the team leader, and Krupa is my teammate. Our project is SafeX AI: an on-device security assistant for phishing links, scam messages and suspicious communications. We have a working Android app and Chrome extension. Our goal is to help people pause, understand the evidence and choose a safer next action, without uploading their private messages or screenshots for AI inference.</a:t>
            </a:r>
          </a:p>
          <a:p/>
          <a:p>
            <a:r>
              <a:t>SUPPORTING DETAIL / CLAIM BOUNDARIES</a:t>
            </a:r>
          </a:p>
          <a:p>
            <a:r>
              <a:t>Team name and ID are user supplied. Names supplied: Divya Gohil (leader), Krupa (member). 'On-device AI Security' is a descriptive theme based on the selected statement, not a verified organizer track code. No invented surname, contact information, registration value or submission deadline is used.</a:t>
            </a:r>
          </a:p>
          <a:p/>
          <a:p>
            <a:r>
              <a:t>SOURCES / CREDITS</a:t>
            </a:r>
          </a:p>
          <a:p>
            <a:r>
              <a:t>User-provided team details</a:t>
            </a:r>
          </a:p>
          <a:p>
            <a:r>
              <a:t>Supplied Code Carnival 3.0 template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PROBLEM STATEMENT &amp; UNDERSTANDING</a:t>
            </a:r>
          </a:p>
          <a:p>
            <a:r>
              <a:t>Presenter: Divya Gohil</a:t>
            </a:r>
          </a:p>
          <a:p>
            <a:r>
              <a:t>Timing: 00:35–01:30 (55 seconds)</a:t>
            </a:r>
          </a:p>
          <a:p/>
          <a:p>
            <a:r>
              <a:t>SUGGESTED TALK TRACK</a:t>
            </a:r>
          </a:p>
          <a:p>
            <a:r>
              <a:t>The problem happens at the moment someone is asked to trust a message. A message may imitate a bank, promise a reward, demand an urgent payment or ask for an OTP. Those requests arrive through different apps, links and QR codes. A user needs understandable help before acting. We also considered local languages, comfortable reading sizes and poor connectivity. Some scams spread across several messages: an ordinary-looking reward promise may become suspicious only when a later message demands money to release it. Our design therefore combines individual checks with explicit, user-reviewed context.</a:t>
            </a:r>
          </a:p>
          <a:p/>
          <a:p>
            <a:r>
              <a:t>SUPPORTING DETAIL / CLAIM BOUNDARIES</a:t>
            </a:r>
          </a:p>
          <a:p>
            <a:r>
              <a:t>No prevalence, financial-loss or adoption statistic is invented. Intended users and usability benefits are design goals, not a completed field study.</a:t>
            </a:r>
          </a:p>
          <a:p/>
          <a:p>
            <a:r>
              <a:t>SOURCES / CREDITS</a:t>
            </a:r>
          </a:p>
          <a:p>
            <a:r>
              <a:t>docs/features.md</a:t>
            </a:r>
          </a:p>
          <a:p>
            <a:r>
              <a:t>docs/mentor-meeting-plan.md (historical design context)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PROPOSED SOLUTION</a:t>
            </a:r>
          </a:p>
          <a:p>
            <a:r>
              <a:t>Presenter: Divya Gohil</a:t>
            </a:r>
          </a:p>
          <a:p>
            <a:r>
              <a:t>Timing: 01:30–02:25 (55 seconds)</a:t>
            </a:r>
          </a:p>
          <a:p/>
          <a:p>
            <a:r>
              <a:t>SUGGESTED TALK TRACK</a:t>
            </a:r>
          </a:p>
          <a:p>
            <a:r>
              <a:t>SafeX AI combines compact trained classifiers with security rules. The Android app accepts deliberate inputs and optional readable notifications; the Chrome extension adds authorized page and link context. The output includes the warning, reasons, coverage limits and next steps. We do not call a cloud chatbot. For screenshots and QR codes, local recognition prepares content the user can review. Scam Story Mode adds an evidence timeline with exact supporting passages. The interface and guidance are available in English, Hindi and Gujarati, with 85 to 150 percent text scaling.</a:t>
            </a:r>
          </a:p>
          <a:p/>
          <a:p>
            <a:r>
              <a:t>SUPPORTING DETAIL / CLAIM BOUNDARIES</a:t>
            </a:r>
          </a:p>
          <a:p>
            <a:r>
              <a:t>Android ALLOW/WARN/BLOCK describes the local decision/opening policy. A model alone can add a warning, not independently block. A risk index is not a calibrated probability. A missing pattern/list entry does not certify safety.</a:t>
            </a:r>
          </a:p>
          <a:p/>
          <a:p>
            <a:r>
              <a:t>SOURCES / CREDITS</a:t>
            </a:r>
          </a:p>
          <a:p>
            <a:r>
              <a:t>README.md</a:t>
            </a:r>
          </a:p>
          <a:p>
            <a:r>
              <a:t>docs/architecture.md</a:t>
            </a:r>
          </a:p>
          <a:p>
            <a:r>
              <a:t>docs/scam-story-mode.md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KEY FEATURES / FUNCTIONALITY</a:t>
            </a:r>
          </a:p>
          <a:p>
            <a:r>
              <a:t>Presenter: Divya Gohil</a:t>
            </a:r>
          </a:p>
          <a:p>
            <a:r>
              <a:t>Timing: 02:25–03:55 (90 seconds)</a:t>
            </a:r>
          </a:p>
          <a:p/>
          <a:p>
            <a:r>
              <a:t>SUGGESTED TALK TRACK</a:t>
            </a:r>
          </a:p>
          <a:p>
            <a:r>
              <a:t>There are four feature groups. First, Android can check text, links, screenshots, QR images, live camera QR and supported file structures. Notification analysis and warning sound are optional. Second, the floating shield lets the user give screen-capture consent, crop an area, correct recognized text and analyze privately. It does not silently capture other apps. Third, Chrome checks selected text, real link destinations and authorized pages. Optional site protection adds bounded rescans and warnings on supported risky clicks and form submissions. Fourth, Scam Story Mode connects reviewed evidence, while tours and incident-help guides make the product easier to use. Android has a 19-step highlighted tour and Chrome has 12 steps. Show one selected-message scan and its reasons here; use the longer floating or browser demonstration only if time permits.</a:t>
            </a:r>
          </a:p>
          <a:p/>
          <a:p>
            <a:r>
              <a:t>SUPPORTING DETAIL / CLAIM BOUNDARIES</a:t>
            </a:r>
          </a:p>
          <a:p>
            <a:r>
              <a:t>Android also has explicit share/selected-text input, UPI address/amount comparison, disclosed context questions, local searchable history with 7/30/90-day retention, warning-sound test, and country-aware incident guidance. File inspection is bounded structure checking, not antivirus. Chrome also has pointer crop, local OCR/QR, redacted reports/export, incorrect-result feedback, themes, keyboard support, warning sound and opt-in exact URL blocking from explicitly labeled local list entries. Scam Story Mode is currently Android-only. Neither product continuously reads the clipboard, authenticates callers or intercepts all communications.</a:t>
            </a:r>
          </a:p>
          <a:p/>
          <a:p>
            <a:r>
              <a:t>SOURCES / CREDITS</a:t>
            </a:r>
          </a:p>
          <a:p>
            <a:r>
              <a:t>docs/features.md</a:t>
            </a:r>
          </a:p>
          <a:p>
            <a:r>
              <a:t>docs/practical-features.md</a:t>
            </a:r>
          </a:p>
          <a:p>
            <a:r>
              <a:t>docs/onboarding-and-release.md</a:t>
            </a:r>
          </a:p>
          <a:p>
            <a:r>
              <a:t>chrome-extension/README.md</a:t>
            </a:r>
          </a:p>
          <a:p>
            <a:r>
              <a:t>docs/chrome-extension-release.md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HOW THE SOLUTION WILL WORK</a:t>
            </a:r>
          </a:p>
          <a:p>
            <a:r>
              <a:t>Presenter: Divya Gohil</a:t>
            </a:r>
          </a:p>
          <a:p>
            <a:r>
              <a:t>Timing: 03:55–05:35 (100 seconds)</a:t>
            </a:r>
          </a:p>
          <a:p/>
          <a:p>
            <a:r>
              <a:t>SUGGESTED TALK TRACK</a:t>
            </a:r>
          </a:p>
          <a:p>
            <a:r>
              <a:t>Every input follows the same idea: choose content, extract and review it when necessary, analyze locally, then explain the result. Text uses a logistic classifier and request-context rules; URLs use a structural neural network and URL rules. Chrome adds visible link and form metadata while excluding field values. In Android Scam Story Mode, add the two authored messages 'Your commission balance is 5000 rupees' and 'Transfer 1000 rupees to release the balance'. The installed fixture records no individual warning for either message, but the supported sequence connects the balance promise to the payment demand. Open the finding to show its exact supporting passages. Remove the payment item and the connection disappears. That is one controlled development example, not a general accuracy claim. Keep airplane mode enabled and do not open a fraud link or make a payment.</a:t>
            </a:r>
          </a:p>
          <a:p/>
          <a:p>
            <a:r>
              <a:t>SUPPORTING DETAIL / CLAIM BOUNDARIES</a:t>
            </a:r>
          </a:p>
          <a:p>
            <a:r>
              <a:t>The Android sequence engine has three bounded playbooks: task/release fee, claimed authority plus pressure/demand, and support plus remote access and sensitive requests. Cases accept up to eight reviewed items. Individual warnings are retained. Cases without a sequence match say more context is needed. Drafts live in app-owned RAM, clear on screen lock and expire after two minutes away. Explicit case snapshots use AES-256-GCM with an Android Keystore key; exports are previewed and exclude raw contents, URLs and payment details. Ordinary Android history and Chrome report storage do not have that case-vault encryption guarantee.</a:t>
            </a:r>
          </a:p>
          <a:p/>
          <a:p>
            <a:r>
              <a:t>SOURCES / CREDITS</a:t>
            </a:r>
          </a:p>
          <a:p>
            <a:r>
              <a:t>docs/architecture.md</a:t>
            </a:r>
          </a:p>
          <a:p>
            <a:r>
              <a:t>docs/scam-story-mode.md</a:t>
            </a:r>
          </a:p>
          <a:p>
            <a:r>
              <a:t>docs/test-results/story-evaluation.json</a:t>
            </a:r>
          </a:p>
          <a:p>
            <a:r>
              <a:t>docs/privacy.md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TECHNOLOGY / TECH STACK</a:t>
            </a:r>
          </a:p>
          <a:p>
            <a:r>
              <a:t>Presenter: Krupa</a:t>
            </a:r>
          </a:p>
          <a:p>
            <a:r>
              <a:t>Timing: 05:35–06:35 (60 seconds)</a:t>
            </a:r>
          </a:p>
          <a:p/>
          <a:p>
            <a:r>
              <a:t>SUGGESTED TALK TRACK</a:t>
            </a:r>
          </a:p>
          <a:p>
            <a:r>
              <a:t>The app uses Kotlin, Compose, Hilt and Room; Chrome uses TypeScript and Manifest V3. The message model is logistic regression with word, bigram and character-trigram features. Its 5606 prepared messages are split into 3910 training, 810 validation and 886 evaluation examples. Observed English data is supplemented with authored Hindi and Gujarati examples. The URL neural network has 15 inputs and layers of 24, 12 and one output, exported to TensorFlow Lite/LiteRT. Its sources include PhiUSIIL, authored variants and a bounded reported-link dataset. ML Kit and Tesseract provide bundled OCR/QR recognition. Models are trained on the development computer and packaged for local inference; the phone does not automatically retrain on users' messages. Android requests no Internet permission.</a:t>
            </a:r>
          </a:p>
          <a:p/>
          <a:p>
            <a:r>
              <a:t>SUPPORTING DETAIL / CLAIM BOUNDARIES</a:t>
            </a:r>
          </a:p>
          <a:p>
            <a:r>
              <a:t>Text feature vocabulary: 13605 terms; shipped JSON about 462 KB. URL model: 15 -&gt; 24 -&gt; 12 -&gt; 1, 4016-byte TFLite asset. The research text threshold is 0.545 with action context; a guarded familiar-Latin path uses 0.915. URL warning threshold is about 0.9001. These are internal uncalibrated scores, not fraud probabilities. Campaign grouping and domain separation reduce split overlap. Model loading checks hashes, feature order and finite values; failure retains local rules. Training and model artifacts were promoted in 1.7 and not retrained for Story Mode.</a:t>
            </a:r>
          </a:p>
          <a:p/>
          <a:p>
            <a:r>
              <a:t>SOURCES / CREDITS</a:t>
            </a:r>
          </a:p>
          <a:p>
            <a:r>
              <a:t>docs/ml-model.md</a:t>
            </a:r>
          </a:p>
          <a:p>
            <a:r>
              <a:t>models/fraud-text-evaluation.json</a:t>
            </a:r>
          </a:p>
          <a:p>
            <a:r>
              <a:t>models/fraud-url-evaluation.json</a:t>
            </a:r>
          </a:p>
          <a:p>
            <a:r>
              <a:t>models/FRAUD-DATA-ATTRIBUTION.md</a:t>
            </a:r>
          </a:p>
          <a:p>
            <a:r>
              <a:t>android-app/app/src/main/assets/text-model-card.json</a:t>
            </a:r>
          </a:p>
          <a:p>
            <a:r>
              <a:t>android-app/app/src/main/assets/url-model-card.json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CURRENT PROGRESS / WORK DONE</a:t>
            </a:r>
          </a:p>
          <a:p>
            <a:r>
              <a:t>Presenter: Krupa</a:t>
            </a:r>
          </a:p>
          <a:p>
            <a:r>
              <a:t>Timing: 06:35–07:50 (75 seconds)</a:t>
            </a:r>
          </a:p>
          <a:p/>
          <a:p>
            <a:r>
              <a:t>SUGGESTED TALK TRACK</a:t>
            </a:r>
          </a:p>
          <a:p>
            <a:r>
              <a:t>We have installable Android 1.9.0 and an unpacked Chrome 1.1.0 release. The final Android build passed 593 active unit tests and 73 active offline Android checks, with zero lint errors and 108 warnings. Its tests used Android 14 on an emulator, not our Samsung phones. Chrome's recorded validation passed 431 unit checks and 43 browser scenarios. These counts establish functional behavior. Separately, the Android 1.7 historical English development comparison detected 71 of 78 scams, with one warning among 769 legitimate messages; it still missed seven scams. The models are unchanged in 1.9. We do not present that result as universal accuracy or as a browser benchmark. Physical S24/A36 testing, fresh independent multilingual evaluation and publisher release work remain open.</a:t>
            </a:r>
          </a:p>
          <a:p/>
          <a:p>
            <a:r>
              <a:t>SUPPORTING DETAIL / CLAIM BOUNDARIES</a:t>
            </a:r>
          </a:p>
          <a:p>
            <a:r>
              <a:t>Four optional unit research-export checks and one optional native research-input check were skipped; the 593/73 numbers count passed active checks. Twenty authored Story contracts matched, including ten suspicious and ten legitimate comparisons. One paid-support control intentionally gets a review connection, while existing per-item warnings remain. This is not 100 percent detection accuracy. Text model-only historical English recall was 76/78 (97.4 percent); full app recall was 71/78 (91.0 percent). URL model-only historical recall was 93.31 percent with 0.40 percent false warnings; new-domain reported-feed recall was 68.02 percent, with no matched current benign set. Hindi/Gujarati independent real-world accuracy is not established. Shown warning screenshots are existing prior-release captures, cropped to the relevant region, not a claim of new 1.9 screenshots.</a:t>
            </a:r>
          </a:p>
          <a:p/>
          <a:p>
            <a:r>
              <a:t>SOURCES / CREDITS</a:t>
            </a:r>
          </a:p>
          <a:p>
            <a:r>
              <a:t>docs/test-results/story-release-summary.json</a:t>
            </a:r>
          </a:p>
          <a:p>
            <a:r>
              <a:t>docs/test-results/chrome-extension-summary.json</a:t>
            </a:r>
          </a:p>
          <a:p>
            <a:r>
              <a:t>docs/test-results/fraud-native-evaluation.json</a:t>
            </a:r>
          </a:p>
          <a:p>
            <a:r>
              <a:t>docs/validation.md</a:t>
            </a:r>
          </a:p>
          <a:p>
            <a:r>
              <a:t>docs/screenshots/scam-result.png</a:t>
            </a:r>
          </a:p>
          <a:p>
            <a:r>
              <a:t>docs/screenshots/chrome-extension-scan-warning.png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FUTURE PLAN / NEXT STEPS</a:t>
            </a:r>
          </a:p>
          <a:p>
            <a:r>
              <a:t>Presenter: Krupa</a:t>
            </a:r>
          </a:p>
          <a:p>
            <a:r>
              <a:t>Timing: 07:50–08:55 (65 seconds)</a:t>
            </a:r>
          </a:p>
          <a:p/>
          <a:p>
            <a:r>
              <a:t>SUGGESTED TALK TRACK</a:t>
            </a:r>
          </a:p>
          <a:p>
            <a:r>
              <a:t>Our immediate goal is a reliable end-to-end rehearsal on both Samsung phones and desktop Chrome, including capture consent, OCR review, sound and permission recovery. After the hackathon we plan a consented pilot and fresh independently labeled scam and legitimate examples. We will measure recall and false warnings by language and scam category before adding broader sequence coverage. Longer-term work includes signed publisher-controlled model updates, wider compatibility, store releases and privacy-preserving education or institutional pilots. These are planned steps, not shipped capabilities or existing partnerships.</a:t>
            </a:r>
          </a:p>
          <a:p/>
          <a:p>
            <a:r>
              <a:t>SUPPORTING DETAIL / CLAIM BOUNDARIES</a:t>
            </a:r>
          </a:p>
          <a:p>
            <a:r>
              <a:t>Physical S24/A36, Android 16/16 KB runtime, TalkBack/manual accessibility and physical speaker checks remain. Publisher signing and store reviews remain. No dates, pilot participants, clinical/financial outcomes, active partnerships or automatic retraining are promised. Fresh evaluation must be kept separate from implementation and tuning.</a:t>
            </a:r>
          </a:p>
          <a:p/>
          <a:p>
            <a:r>
              <a:t>SOURCES / CREDITS</a:t>
            </a:r>
          </a:p>
          <a:p>
            <a:r>
              <a:t>docs/validation.md</a:t>
            </a:r>
          </a:p>
          <a:p>
            <a:r>
              <a:t>docs/chrome-extension-release.md</a:t>
            </a:r>
          </a:p>
          <a:p>
            <a:r>
              <a:t>docs/ml-model.md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GITHUB REPOSITORY LINK</a:t>
            </a:r>
          </a:p>
          <a:p>
            <a:r>
              <a:t>Presenter: Krupa</a:t>
            </a:r>
          </a:p>
          <a:p>
            <a:r>
              <a:t>Timing: 08:55–10:00 (65 seconds)</a:t>
            </a:r>
          </a:p>
          <a:p/>
          <a:p>
            <a:r>
              <a:t>SUGGESTED TALK TRACK</a:t>
            </a:r>
          </a:p>
          <a:p>
            <a:r>
              <a:t>Our public repository is github.com/Divya3996/SafeX-AI. The source documentation covers setup, features, privacy and validation. The QR code opens our public jury demonstration library with labeled messages, URLs, QR codes and screenshots. The public website has older versioned downloads, so use the separately supplied Android 1.9.0 APK and Chrome 1.1.0 ZIP for this presentation. Our goal is security guidance that people can understand, use offline and read in their own language. The floating assistant supports phone workflows, Chrome adds browser context, and Scam Story Mode connects the clues users deliberately review. The next step is independent multilingual evaluation and physical-device rehearsal. Thank you; we welcome your questions.</a:t>
            </a:r>
          </a:p>
          <a:p/>
          <a:p>
            <a:r>
              <a:t>SUPPORTING DETAIL / CLAIM BOUNDARIES</a:t>
            </a:r>
          </a:p>
          <a:p>
            <a:r>
              <a:t>Public GitHub API verified private=false and an accessible README on 10 October 2026. Contributor listing contained Divya3996 only. Current 1.9 changes exist locally and are not pushed by this presentation task. The public jury website returned HTTP 200 and SafeX-branded HTML on 10 October. Its library has 271 development fixtures; do not claim these are independent tests. Do not use its older app/extension version references as current release references.</a:t>
            </a:r>
          </a:p>
          <a:p/>
          <a:p>
            <a:r>
              <a:t>SOURCES / CREDITS</a:t>
            </a:r>
          </a:p>
          <a:p>
            <a:r>
              <a:t>https://github.com/Divya3996/SafeX-AI</a:t>
            </a:r>
          </a:p>
          <a:p>
            <a:r>
              <a:t>https://safex-ai-jury-demo.cuddlyrobin1.chatgpt.site</a:t>
            </a:r>
          </a:p>
          <a:p>
            <a:r>
              <a:t>docs/jury-demo.md</a:t>
            </a:r>
          </a:p>
          <a:p>
            <a:r>
              <a:t>README.md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0E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1406978"/>
            <a:ext cx="10566466" cy="467320"/>
          </a:xfrm>
          <a:prstGeom prst="rect">
            <a:avLst/>
          </a:prstGeom>
          <a:noFill/>
          <a:ln/>
        </p:spPr>
        <p:txBody>
          <a:bodyPr wrap="square" lIns="0" tIns="0" rIns="0" bIns="0" rtlCol="0" anchor="t"/>
          <a:lstStyle>
            <a:lvl1pPr algn="l" indent="0" marL="0">
              <a:lnSpc>
                <a:spcPct val="115000"/>
              </a:lnSpc>
              <a:buNone/>
              <a:defRPr lang="en-US" sz="3200" dirty="0">
                <a:solidFill>
                  <a:srgbClr val="1E1917"/>
                </a:solidFill>
                <a:latin typeface="Oswald" pitchFamily="34" charset="0"/>
                <a:ea typeface="Oswald" pitchFamily="34" charset="-122"/>
                <a:cs typeface="Oswal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7" y="2179098"/>
            <a:ext cx="10566433" cy="3866102"/>
          </a:xfrm>
          <a:prstGeom prst="rect">
            <a:avLst/>
          </a:prstGeom>
          <a:noFill/>
          <a:ln/>
        </p:spPr>
        <p:txBody>
          <a:bodyPr wrap="square" lIns="0" tIns="0" rIns="0" bIns="0" rtlCol="0" anchor="t"/>
          <a:lstStyle>
            <a:lvl1pPr algn="l" indent="0" marL="0">
              <a:lnSpc>
                <a:spcPct val="140000"/>
              </a:lnSpc>
              <a:buNone/>
              <a:defRPr lang="en-US" sz="1600" dirty="0">
                <a:solidFill>
                  <a:srgbClr val="1E1917"/>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0E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1406978"/>
            <a:ext cx="10566466" cy="467320"/>
          </a:xfrm>
          <a:prstGeom prst="rect">
            <a:avLst/>
          </a:prstGeom>
          <a:noFill/>
          <a:ln/>
        </p:spPr>
        <p:txBody>
          <a:bodyPr wrap="square" lIns="0" tIns="0" rIns="0" bIns="0" rtlCol="0" anchor="t"/>
          <a:lstStyle>
            <a:lvl1pPr algn="l" indent="0" marL="0">
              <a:lnSpc>
                <a:spcPct val="115000"/>
              </a:lnSpc>
              <a:buNone/>
              <a:defRPr lang="en-US" sz="3200" dirty="0">
                <a:solidFill>
                  <a:srgbClr val="1E1917"/>
                </a:solidFill>
                <a:latin typeface="Oswald" pitchFamily="34" charset="0"/>
                <a:ea typeface="Oswald" pitchFamily="34" charset="-122"/>
                <a:cs typeface="Oswal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7" y="2179098"/>
            <a:ext cx="10566433" cy="3866102"/>
          </a:xfrm>
          <a:prstGeom prst="rect">
            <a:avLst/>
          </a:prstGeom>
          <a:noFill/>
          <a:ln/>
        </p:spPr>
        <p:txBody>
          <a:bodyPr wrap="square" lIns="0" tIns="0" rIns="0" bIns="0" rtlCol="0" anchor="t"/>
          <a:lstStyle>
            <a:lvl1pPr algn="l" indent="0" marL="0">
              <a:lnSpc>
                <a:spcPct val="140000"/>
              </a:lnSpc>
              <a:buNone/>
              <a:defRPr lang="en-US" sz="1600" dirty="0">
                <a:solidFill>
                  <a:srgbClr val="1E1917"/>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 Id="rId6" Type="http://schemas.openxmlformats.org/officeDocument/2006/relationships/image" Target="../media/image2.png"/><Relationship Id="rId7"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 Id="rId7" Type="http://schemas.openxmlformats.org/officeDocument/2006/relationships/hyperlink" Target="https://github.com/Divya3996/SafeX-AI" TargetMode="External"/><Relationship Id="rId8" Type="http://schemas.openxmlformats.org/officeDocument/2006/relationships/hyperlink" Target="https://safex-ai-jury-demo.cuddlyrobin1.chatgpt.site" TargetMode="External"/><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20F"/>
        </a:solidFill>
      </p:bgPr>
    </p:bg>
    <p:spTree>
      <p:nvGrpSpPr>
        <p:cNvPr id="1" name=""/>
        <p:cNvGrpSpPr/>
        <p:nvPr/>
      </p:nvGrpSpPr>
      <p:grpSpPr>
        <a:xfrm>
          <a:off x="0" y="0"/>
          <a:ext cx="0" cy="0"/>
          <a:chOff x="0" y="0"/>
          <a:chExt cx="0" cy="0"/>
        </a:xfrm>
      </p:grpSpPr>
      <p:sp>
        <p:nvSpPr>
          <p:cNvPr id="2" name="Shape 0"/>
          <p:cNvSpPr/>
          <p:nvPr/>
        </p:nvSpPr>
        <p:spPr>
          <a:xfrm>
            <a:off x="0" y="0"/>
            <a:ext cx="152356" cy="6857999"/>
          </a:xfrm>
          <a:prstGeom prst="rect">
            <a:avLst/>
          </a:prstGeom>
          <a:solidFill>
            <a:srgbClr val="C8102E"/>
          </a:solidFill>
          <a:ln/>
        </p:spPr>
        <p:txBody>
          <a:bodyPr/>
          <a:p/>
        </p:txBody>
      </p:sp>
      <p:sp>
        <p:nvSpPr>
          <p:cNvPr id="3" name="Shape 1"/>
          <p:cNvSpPr/>
          <p:nvPr/>
        </p:nvSpPr>
        <p:spPr>
          <a:xfrm>
            <a:off x="812767" y="508000"/>
            <a:ext cx="10566466" cy="863589"/>
          </a:xfrm>
          <a:prstGeom prst="roundRect">
            <a:avLst>
              <a:gd name="adj" fmla="val 11765"/>
            </a:avLst>
          </a:prstGeom>
          <a:solidFill>
            <a:srgbClr val="F6F0E6"/>
          </a:solidFill>
          <a:ln/>
        </p:spPr>
        <p:txBody>
          <a:bodyPr/>
          <a:p/>
        </p:txBody>
      </p:sp>
      <p:pic>
        <p:nvPicPr>
          <p:cNvPr id="4" name="Image 0" descr="Atmiya University logo">    </p:cNvPr>
          <p:cNvPicPr>
            <a:picLocks noChangeAspect="1"/>
          </p:cNvPicPr>
          <p:nvPr/>
        </p:nvPicPr>
        <p:blipFill>
          <a:blip r:embed="rId1"/>
          <a:srcRect l="-84" r="-84" t="0" b="0"/>
          <a:stretch/>
        </p:blipFill>
        <p:spPr>
          <a:xfrm>
            <a:off x="1066767" y="685767"/>
            <a:ext cx="1790678" cy="508000"/>
          </a:xfrm>
          <a:prstGeom prst="rect">
            <a:avLst/>
          </a:prstGeom>
        </p:spPr>
      </p:pic>
      <p:pic>
        <p:nvPicPr>
          <p:cNvPr id="5" name="Image 1" descr="Centre for Research, Innovation and Translation logo">    </p:cNvPr>
          <p:cNvPicPr>
            <a:picLocks noChangeAspect="1"/>
          </p:cNvPicPr>
          <p:nvPr/>
        </p:nvPicPr>
        <p:blipFill>
          <a:blip r:embed="rId2"/>
          <a:srcRect l="-420" r="-420" t="0" b="0"/>
          <a:stretch/>
        </p:blipFill>
        <p:spPr>
          <a:xfrm>
            <a:off x="8731360" y="635000"/>
            <a:ext cx="609589" cy="609589"/>
          </a:xfrm>
          <a:prstGeom prst="rect">
            <a:avLst/>
          </a:prstGeom>
        </p:spPr>
      </p:pic>
      <p:pic>
        <p:nvPicPr>
          <p:cNvPr id="6" name="Image 2" descr="ADSC logo">    </p:cNvPr>
          <p:cNvPicPr>
            <a:picLocks noChangeAspect="1"/>
          </p:cNvPicPr>
          <p:nvPr/>
        </p:nvPicPr>
        <p:blipFill>
          <a:blip r:embed="rId3"/>
          <a:srcRect l="0" r="0" t="-76" b="-76"/>
          <a:stretch/>
        </p:blipFill>
        <p:spPr>
          <a:xfrm>
            <a:off x="9645716" y="774678"/>
            <a:ext cx="1479517" cy="330178"/>
          </a:xfrm>
          <a:prstGeom prst="rect">
            <a:avLst/>
          </a:prstGeom>
        </p:spPr>
      </p:pic>
      <p:sp>
        <p:nvSpPr>
          <p:cNvPr id="7" name="Text 2"/>
          <p:cNvSpPr/>
          <p:nvPr/>
        </p:nvSpPr>
        <p:spPr>
          <a:xfrm>
            <a:off x="812767" y="2231705"/>
            <a:ext cx="10883460" cy="238775"/>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EF4350"/>
                </a:solidFill>
                <a:latin typeface="Public Sans" pitchFamily="34" charset="0"/>
                <a:ea typeface="Public Sans" pitchFamily="34" charset="-122"/>
                <a:cs typeface="Public Sans" pitchFamily="34" charset="-120"/>
              </a:rPr>
              <a:t>ATMIYA DEVELOPER STUDENTS CLUB PRESENTS</a:t>
            </a:r>
            <a:endParaRPr lang="en-US" sz="1200" dirty="0"/>
          </a:p>
        </p:txBody>
      </p:sp>
      <p:sp>
        <p:nvSpPr>
          <p:cNvPr id="8" name="Text 3"/>
          <p:cNvSpPr/>
          <p:nvPr>
            <p:ph type="title"/>
          </p:nvPr>
        </p:nvSpPr>
        <p:spPr>
          <a:xfrm>
            <a:off x="812767" y="2673670"/>
            <a:ext cx="10883460" cy="985507"/>
          </a:xfrm>
          <a:prstGeom prst="rect">
            <a:avLst/>
          </a:prstGeom>
          <a:noFill/>
          <a:ln/>
        </p:spPr>
        <p:txBody>
          <a:bodyPr wrap="square" lIns="0" tIns="0" rIns="0" bIns="0" rtlCol="0" anchor="t">
            <a:normAutofit/>
          </a:bodyPr>
          <a:lstStyle/>
          <a:p>
            <a:pPr algn="l" indent="0" marL="0">
              <a:lnSpc>
                <a:spcPts val="7560"/>
              </a:lnSpc>
              <a:buNone/>
            </a:pPr>
            <a:r>
              <a:rPr lang="en-US" sz="7200" b="1" i="0" spc="100" kern="0" dirty="0">
                <a:solidFill>
                  <a:srgbClr val="F6F0E6"/>
                </a:solidFill>
                <a:latin typeface="Oswald" pitchFamily="34" charset="0"/>
                <a:ea typeface="Oswald" pitchFamily="34" charset="-122"/>
                <a:cs typeface="Oswald" pitchFamily="34" charset="-120"/>
              </a:rPr>
              <a:t>CODE CARNIVAL </a:t>
            </a:r>
            <a:r>
              <a:rPr lang="en-US" sz="7200" b="1" i="0" spc="100" kern="0" dirty="0">
                <a:solidFill>
                  <a:srgbClr val="EF4350"/>
                </a:solidFill>
                <a:latin typeface="Oswald" pitchFamily="34" charset="0"/>
                <a:ea typeface="Oswald" pitchFamily="34" charset="-122"/>
                <a:cs typeface="Oswald" pitchFamily="34" charset="-120"/>
              </a:rPr>
              <a:t>3.0</a:t>
            </a:r>
            <a:endParaRPr lang="en-US" sz="7200" dirty="0"/>
          </a:p>
        </p:txBody>
      </p:sp>
      <p:sp>
        <p:nvSpPr>
          <p:cNvPr id="9" name="Text 4"/>
          <p:cNvSpPr/>
          <p:nvPr/>
        </p:nvSpPr>
        <p:spPr>
          <a:xfrm>
            <a:off x="812767" y="3862365"/>
            <a:ext cx="10883460" cy="329184"/>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2240"/>
              </a:lnSpc>
              <a:buNone/>
            </a:pPr>
            <a:r>
              <a:rPr lang="en-US" sz="1800" dirty="0">
                <a:solidFill>
                  <a:srgbClr val="D9CFC2"/>
                </a:solidFill>
                <a:latin typeface="Public Sans" pitchFamily="34" charset="0"/>
                <a:ea typeface="Public Sans" pitchFamily="34" charset="-122"/>
                <a:cs typeface="Public Sans" pitchFamily="34" charset="-120"/>
              </a:rPr>
              <a:t>SafeX AI · Android + Chrome · Private, on-device protection</a:t>
            </a:r>
            <a:endParaRPr lang="en-US" sz="1600" dirty="0"/>
          </a:p>
        </p:txBody>
      </p:sp>
      <p:sp>
        <p:nvSpPr>
          <p:cNvPr id="10" name="Shape 5"/>
          <p:cNvSpPr/>
          <p:nvPr/>
        </p:nvSpPr>
        <p:spPr>
          <a:xfrm>
            <a:off x="815942" y="4378556"/>
            <a:ext cx="3414216" cy="853987"/>
          </a:xfrm>
          <a:prstGeom prst="roundRect">
            <a:avLst>
              <a:gd name="adj" fmla="val 5577"/>
            </a:avLst>
          </a:prstGeom>
          <a:noFill/>
          <a:ln w="6350">
            <a:solidFill>
              <a:srgbClr val="4A3F38"/>
            </a:solidFill>
            <a:prstDash val="solid"/>
          </a:ln>
        </p:spPr>
        <p:txBody>
          <a:bodyPr/>
          <a:p/>
        </p:txBody>
      </p:sp>
      <p:sp>
        <p:nvSpPr>
          <p:cNvPr id="11" name="Text 6"/>
          <p:cNvSpPr/>
          <p:nvPr/>
        </p:nvSpPr>
        <p:spPr>
          <a:xfrm>
            <a:off x="994062" y="4531265"/>
            <a:ext cx="3149716" cy="23877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F4350"/>
                </a:solidFill>
                <a:latin typeface="Public Sans" pitchFamily="34" charset="0"/>
                <a:ea typeface="Public Sans" pitchFamily="34" charset="-122"/>
                <a:cs typeface="Public Sans" pitchFamily="34" charset="-120"/>
              </a:rPr>
              <a:t>TEAM NAME</a:t>
            </a:r>
            <a:endParaRPr lang="en-US" sz="1200" dirty="0"/>
          </a:p>
        </p:txBody>
      </p:sp>
      <p:sp>
        <p:nvSpPr>
          <p:cNvPr id="12" name="Text 7"/>
          <p:cNvSpPr/>
          <p:nvPr/>
        </p:nvSpPr>
        <p:spPr>
          <a:xfrm>
            <a:off x="994062" y="4795407"/>
            <a:ext cx="3149716" cy="338328"/>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2240"/>
              </a:lnSpc>
              <a:buNone/>
            </a:pPr>
            <a:r>
              <a:rPr lang="en-US" sz="1800" dirty="0">
                <a:solidFill>
                  <a:srgbClr val="F6F0E6"/>
                </a:solidFill>
                <a:latin typeface="Public Sans" pitchFamily="34" charset="0"/>
                <a:ea typeface="Public Sans" pitchFamily="34" charset="-122"/>
                <a:cs typeface="Public Sans" pitchFamily="34" charset="-120"/>
              </a:rPr>
              <a:t>Doclock</a:t>
            </a:r>
            <a:endParaRPr lang="en-US" sz="1600" dirty="0"/>
          </a:p>
        </p:txBody>
      </p:sp>
      <p:sp>
        <p:nvSpPr>
          <p:cNvPr id="13" name="Shape 8"/>
          <p:cNvSpPr/>
          <p:nvPr/>
        </p:nvSpPr>
        <p:spPr>
          <a:xfrm>
            <a:off x="4388864" y="4378556"/>
            <a:ext cx="3414216" cy="853987"/>
          </a:xfrm>
          <a:prstGeom prst="roundRect">
            <a:avLst>
              <a:gd name="adj" fmla="val 5577"/>
            </a:avLst>
          </a:prstGeom>
          <a:noFill/>
          <a:ln w="6350">
            <a:solidFill>
              <a:srgbClr val="4A3F38"/>
            </a:solidFill>
            <a:prstDash val="solid"/>
          </a:ln>
        </p:spPr>
        <p:txBody>
          <a:bodyPr/>
          <a:p/>
        </p:txBody>
      </p:sp>
      <p:sp>
        <p:nvSpPr>
          <p:cNvPr id="14" name="Text 9"/>
          <p:cNvSpPr/>
          <p:nvPr/>
        </p:nvSpPr>
        <p:spPr>
          <a:xfrm>
            <a:off x="4566984" y="4531265"/>
            <a:ext cx="3149716" cy="23877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F4350"/>
                </a:solidFill>
                <a:latin typeface="Public Sans" pitchFamily="34" charset="0"/>
                <a:ea typeface="Public Sans" pitchFamily="34" charset="-122"/>
                <a:cs typeface="Public Sans" pitchFamily="34" charset="-120"/>
              </a:rPr>
              <a:t>TEAM ID</a:t>
            </a:r>
            <a:endParaRPr lang="en-US" sz="1200" dirty="0"/>
          </a:p>
        </p:txBody>
      </p:sp>
      <p:sp>
        <p:nvSpPr>
          <p:cNvPr id="15" name="Text 10"/>
          <p:cNvSpPr/>
          <p:nvPr/>
        </p:nvSpPr>
        <p:spPr>
          <a:xfrm>
            <a:off x="4566984" y="4795407"/>
            <a:ext cx="3149716" cy="338328"/>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2240"/>
              </a:lnSpc>
              <a:buNone/>
            </a:pPr>
            <a:r>
              <a:rPr lang="en-US" sz="1800" dirty="0">
                <a:solidFill>
                  <a:srgbClr val="F6F0E6"/>
                </a:solidFill>
                <a:latin typeface="Public Sans" pitchFamily="34" charset="0"/>
                <a:ea typeface="Public Sans" pitchFamily="34" charset="-122"/>
                <a:cs typeface="Public Sans" pitchFamily="34" charset="-120"/>
              </a:rPr>
              <a:t>M87V</a:t>
            </a:r>
            <a:endParaRPr lang="en-US" sz="1600" dirty="0"/>
          </a:p>
        </p:txBody>
      </p:sp>
      <p:sp>
        <p:nvSpPr>
          <p:cNvPr id="16" name="Shape 11"/>
          <p:cNvSpPr/>
          <p:nvPr/>
        </p:nvSpPr>
        <p:spPr>
          <a:xfrm>
            <a:off x="7961786" y="4378556"/>
            <a:ext cx="3414216" cy="853987"/>
          </a:xfrm>
          <a:prstGeom prst="roundRect">
            <a:avLst>
              <a:gd name="adj" fmla="val 5577"/>
            </a:avLst>
          </a:prstGeom>
          <a:noFill/>
          <a:ln w="6350">
            <a:solidFill>
              <a:srgbClr val="4A3F38"/>
            </a:solidFill>
            <a:prstDash val="solid"/>
          </a:ln>
        </p:spPr>
        <p:txBody>
          <a:bodyPr/>
          <a:p/>
        </p:txBody>
      </p:sp>
      <p:sp>
        <p:nvSpPr>
          <p:cNvPr id="17" name="Text 12"/>
          <p:cNvSpPr/>
          <p:nvPr/>
        </p:nvSpPr>
        <p:spPr>
          <a:xfrm>
            <a:off x="8139905" y="4531265"/>
            <a:ext cx="3149716" cy="23877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F4350"/>
                </a:solidFill>
                <a:latin typeface="Public Sans" pitchFamily="34" charset="0"/>
                <a:ea typeface="Public Sans" pitchFamily="34" charset="-122"/>
                <a:cs typeface="Public Sans" pitchFamily="34" charset="-120"/>
              </a:rPr>
              <a:t>TEAM LEADER</a:t>
            </a:r>
            <a:endParaRPr lang="en-US" sz="1200" dirty="0"/>
          </a:p>
        </p:txBody>
      </p:sp>
      <p:sp>
        <p:nvSpPr>
          <p:cNvPr id="18" name="Text 13"/>
          <p:cNvSpPr/>
          <p:nvPr/>
        </p:nvSpPr>
        <p:spPr>
          <a:xfrm>
            <a:off x="8139905" y="4795407"/>
            <a:ext cx="3149716" cy="338328"/>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2240"/>
              </a:lnSpc>
              <a:buNone/>
            </a:pPr>
            <a:r>
              <a:rPr lang="en-US" sz="1800" dirty="0">
                <a:solidFill>
                  <a:srgbClr val="F6F0E6"/>
                </a:solidFill>
                <a:latin typeface="Public Sans" pitchFamily="34" charset="0"/>
                <a:ea typeface="Public Sans" pitchFamily="34" charset="-122"/>
                <a:cs typeface="Public Sans" pitchFamily="34" charset="-120"/>
              </a:rPr>
              <a:t>Divya Gohil</a:t>
            </a:r>
            <a:endParaRPr lang="en-US" sz="1600" dirty="0"/>
          </a:p>
        </p:txBody>
      </p:sp>
      <p:sp>
        <p:nvSpPr>
          <p:cNvPr id="19" name="Shape 14"/>
          <p:cNvSpPr/>
          <p:nvPr/>
        </p:nvSpPr>
        <p:spPr>
          <a:xfrm>
            <a:off x="815942" y="5391249"/>
            <a:ext cx="6987139" cy="853987"/>
          </a:xfrm>
          <a:prstGeom prst="roundRect">
            <a:avLst>
              <a:gd name="adj" fmla="val 5577"/>
            </a:avLst>
          </a:prstGeom>
          <a:noFill/>
          <a:ln w="6350">
            <a:solidFill>
              <a:srgbClr val="4A3F38"/>
            </a:solidFill>
            <a:prstDash val="solid"/>
          </a:ln>
        </p:spPr>
        <p:txBody>
          <a:bodyPr/>
          <a:p/>
        </p:txBody>
      </p:sp>
      <p:sp>
        <p:nvSpPr>
          <p:cNvPr id="20" name="Text 15"/>
          <p:cNvSpPr/>
          <p:nvPr/>
        </p:nvSpPr>
        <p:spPr>
          <a:xfrm>
            <a:off x="994062" y="5543958"/>
            <a:ext cx="6829826" cy="23877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F4350"/>
                </a:solidFill>
                <a:latin typeface="Public Sans" pitchFamily="34" charset="0"/>
                <a:ea typeface="Public Sans" pitchFamily="34" charset="-122"/>
                <a:cs typeface="Public Sans" pitchFamily="34" charset="-120"/>
              </a:rPr>
              <a:t>PROBLEM STATEMENT TITLE</a:t>
            </a:r>
            <a:endParaRPr lang="en-US" sz="1200" dirty="0"/>
          </a:p>
        </p:txBody>
      </p:sp>
      <p:sp>
        <p:nvSpPr>
          <p:cNvPr id="21" name="Text 16"/>
          <p:cNvSpPr/>
          <p:nvPr/>
        </p:nvSpPr>
        <p:spPr>
          <a:xfrm>
            <a:off x="994062" y="5808100"/>
            <a:ext cx="6829826" cy="338328"/>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2240"/>
              </a:lnSpc>
              <a:buNone/>
            </a:pPr>
            <a:r>
              <a:rPr lang="en-US" sz="1800" dirty="0">
                <a:solidFill>
                  <a:srgbClr val="F6F0E6"/>
                </a:solidFill>
                <a:latin typeface="Public Sans" pitchFamily="34" charset="0"/>
                <a:ea typeface="Public Sans" pitchFamily="34" charset="-122"/>
                <a:cs typeface="Public Sans" pitchFamily="34" charset="-120"/>
              </a:rPr>
              <a:t>On-device threat, phishing and scam detection</a:t>
            </a:r>
            <a:endParaRPr lang="en-US" sz="1600" dirty="0"/>
          </a:p>
        </p:txBody>
      </p:sp>
      <p:sp>
        <p:nvSpPr>
          <p:cNvPr id="22" name="Shape 17"/>
          <p:cNvSpPr/>
          <p:nvPr/>
        </p:nvSpPr>
        <p:spPr>
          <a:xfrm>
            <a:off x="7961786" y="5391249"/>
            <a:ext cx="3414216" cy="853987"/>
          </a:xfrm>
          <a:prstGeom prst="roundRect">
            <a:avLst>
              <a:gd name="adj" fmla="val 5577"/>
            </a:avLst>
          </a:prstGeom>
          <a:noFill/>
          <a:ln w="6350">
            <a:solidFill>
              <a:srgbClr val="4A3F38"/>
            </a:solidFill>
            <a:prstDash val="solid"/>
          </a:ln>
        </p:spPr>
        <p:txBody>
          <a:bodyPr/>
          <a:p/>
        </p:txBody>
      </p:sp>
      <p:sp>
        <p:nvSpPr>
          <p:cNvPr id="23" name="Text 18"/>
          <p:cNvSpPr/>
          <p:nvPr/>
        </p:nvSpPr>
        <p:spPr>
          <a:xfrm>
            <a:off x="8139905" y="5543958"/>
            <a:ext cx="3149716" cy="23877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F4350"/>
                </a:solidFill>
                <a:latin typeface="Public Sans" pitchFamily="34" charset="0"/>
                <a:ea typeface="Public Sans" pitchFamily="34" charset="-122"/>
                <a:cs typeface="Public Sans" pitchFamily="34" charset="-120"/>
              </a:rPr>
              <a:t>THEME / TRACK</a:t>
            </a:r>
            <a:endParaRPr lang="en-US" sz="1200" dirty="0"/>
          </a:p>
        </p:txBody>
      </p:sp>
      <p:sp>
        <p:nvSpPr>
          <p:cNvPr id="24" name="Text 19"/>
          <p:cNvSpPr/>
          <p:nvPr/>
        </p:nvSpPr>
        <p:spPr>
          <a:xfrm>
            <a:off x="8139905" y="5808100"/>
            <a:ext cx="3149716" cy="338328"/>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2240"/>
              </a:lnSpc>
              <a:buNone/>
            </a:pPr>
            <a:r>
              <a:rPr lang="en-US" sz="1800" dirty="0">
                <a:solidFill>
                  <a:srgbClr val="F6F0E6"/>
                </a:solidFill>
                <a:latin typeface="Public Sans" pitchFamily="34" charset="0"/>
                <a:ea typeface="Public Sans" pitchFamily="34" charset="-122"/>
                <a:cs typeface="Public Sans" pitchFamily="34" charset="-120"/>
              </a:rPr>
              <a:t>On-device AI Security</a:t>
            </a:r>
            <a:endParaRPr lang="en-US" sz="1600" dirty="0"/>
          </a:p>
        </p:txBody>
      </p:sp>
      <p:sp>
        <p:nvSpPr>
          <p:cNvPr id="25" name="Team member"/>
          <p:cNvSpPr txBox="1"/>
          <p:nvPr/>
        </p:nvSpPr>
        <p:spPr>
          <a:xfrm>
            <a:off x="813816" y="1664208"/>
            <a:ext cx="5760720" cy="329184"/>
          </a:xfrm>
          <a:prstGeom prst="rect">
            <a:avLst/>
          </a:prstGeom>
          <a:noFill/>
        </p:spPr>
        <p:txBody>
          <a:bodyPr wrap="square" lIns="0" rIns="0" tIns="0" bIns="0">
            <a:spAutoFit/>
          </a:bodyPr>
          <a:lstStyle/>
          <a:p>
            <a:pPr algn="l">
              <a:lnSpc>
                <a:spcPct val="108000"/>
              </a:lnSpc>
              <a:spcAft>
                <a:spcPts val="0"/>
              </a:spcAft>
            </a:pPr>
            <a:r>
              <a:rPr sz="1800" b="0">
                <a:solidFill>
                  <a:srgbClr val="F6F0E6"/>
                </a:solidFill>
                <a:latin typeface="Public Sans"/>
              </a:rPr>
              <a:t>Team member: Krupa</a:t>
            </a:r>
          </a:p>
        </p:txBody>
      </p:sp>
      <p:pic>
        <p:nvPicPr>
          <p:cNvPr id="26" name="Picture 25" descr="safex-logo.png"/>
          <p:cNvPicPr>
            <a:picLocks noChangeAspect="1"/>
          </p:cNvPicPr>
          <p:nvPr/>
        </p:nvPicPr>
        <p:blipFill>
          <a:blip r:embed="rId6"/>
          <a:stretch>
            <a:fillRect/>
          </a:stretch>
        </p:blipFill>
        <p:spPr>
          <a:xfrm>
            <a:off x="9665208" y="1554480"/>
            <a:ext cx="484632" cy="484632"/>
          </a:xfrm>
          <a:prstGeom prst="rect">
            <a:avLst/>
          </a:prstGeom>
        </p:spPr>
      </p:pic>
      <p:sp>
        <p:nvSpPr>
          <p:cNvPr id="27" name="Product wordmark"/>
          <p:cNvSpPr txBox="1"/>
          <p:nvPr/>
        </p:nvSpPr>
        <p:spPr>
          <a:xfrm>
            <a:off x="10268712" y="1645920"/>
            <a:ext cx="1097280" cy="320040"/>
          </a:xfrm>
          <a:prstGeom prst="rect">
            <a:avLst/>
          </a:prstGeom>
          <a:noFill/>
        </p:spPr>
        <p:txBody>
          <a:bodyPr wrap="square" lIns="0" rIns="0" tIns="0" bIns="0">
            <a:spAutoFit/>
          </a:bodyPr>
          <a:lstStyle/>
          <a:p>
            <a:pPr algn="l">
              <a:lnSpc>
                <a:spcPct val="108000"/>
              </a:lnSpc>
              <a:spcAft>
                <a:spcPts val="0"/>
              </a:spcAft>
            </a:pPr>
            <a:r>
              <a:rPr sz="1800" b="1">
                <a:solidFill>
                  <a:srgbClr val="F6F0E6"/>
                </a:solidFill>
                <a:latin typeface="Public Sans"/>
              </a:rPr>
              <a:t>SafeX AI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0E6"/>
        </a:solidFill>
      </p:bgPr>
    </p:bg>
    <p:spTree>
      <p:nvGrpSpPr>
        <p:cNvPr id="1" name=""/>
        <p:cNvGrpSpPr/>
        <p:nvPr/>
      </p:nvGrpSpPr>
      <p:grpSpPr>
        <a:xfrm>
          <a:off x="0" y="0"/>
          <a:ext cx="0" cy="0"/>
          <a:chOff x="0" y="0"/>
          <a:chExt cx="0" cy="0"/>
        </a:xfrm>
      </p:grpSpPr>
      <p:pic>
        <p:nvPicPr>
          <p:cNvPr id="2" name="Image 0" descr="Atmiya University logo">    </p:cNvPr>
          <p:cNvPicPr>
            <a:picLocks noChangeAspect="1"/>
          </p:cNvPicPr>
          <p:nvPr/>
        </p:nvPicPr>
        <p:blipFill>
          <a:blip r:embed="rId1"/>
          <a:srcRect l="0" r="0" t="-43" b="-43"/>
          <a:stretch/>
        </p:blipFill>
        <p:spPr>
          <a:xfrm>
            <a:off x="812767" y="330178"/>
            <a:ext cx="1428750" cy="406356"/>
          </a:xfrm>
          <a:prstGeom prst="rect">
            <a:avLst/>
          </a:prstGeom>
        </p:spPr>
      </p:pic>
      <p:pic>
        <p:nvPicPr>
          <p:cNvPr id="3" name="Image 1" descr="Centre for Research, Innovation and Translation logo">    </p:cNvPr>
          <p:cNvPicPr>
            <a:picLocks noChangeAspect="1"/>
          </p:cNvPicPr>
          <p:nvPr/>
        </p:nvPicPr>
        <p:blipFill>
          <a:blip r:embed="rId2"/>
          <a:srcRect l="-420" r="-420" t="0" b="0"/>
          <a:stretch/>
        </p:blipFill>
        <p:spPr>
          <a:xfrm>
            <a:off x="9467948" y="304767"/>
            <a:ext cx="457178" cy="457178"/>
          </a:xfrm>
          <a:prstGeom prst="rect">
            <a:avLst/>
          </a:prstGeom>
        </p:spPr>
      </p:pic>
      <p:pic>
        <p:nvPicPr>
          <p:cNvPr id="4" name="Image 2" descr="ADSC logo">    </p:cNvPr>
          <p:cNvPicPr>
            <a:picLocks noChangeAspect="1"/>
          </p:cNvPicPr>
          <p:nvPr/>
        </p:nvPicPr>
        <p:blipFill>
          <a:blip r:embed="rId3"/>
          <a:srcRect l="0" r="0" t="-111" b="-111"/>
          <a:stretch/>
        </p:blipFill>
        <p:spPr>
          <a:xfrm>
            <a:off x="10128304" y="393678"/>
            <a:ext cx="1250928" cy="279356"/>
          </a:xfrm>
          <a:prstGeom prst="rect">
            <a:avLst/>
          </a:prstGeom>
        </p:spPr>
      </p:pic>
      <p:sp>
        <p:nvSpPr>
          <p:cNvPr id="5" name="Shape 0"/>
          <p:cNvSpPr/>
          <p:nvPr/>
        </p:nvSpPr>
        <p:spPr>
          <a:xfrm>
            <a:off x="812767" y="939713"/>
            <a:ext cx="10566466" cy="25356"/>
          </a:xfrm>
          <a:prstGeom prst="rect">
            <a:avLst/>
          </a:prstGeom>
          <a:solidFill>
            <a:srgbClr val="C8102E"/>
          </a:solidFill>
          <a:ln/>
        </p:spPr>
        <p:txBody>
          <a:bodyPr/>
          <a:p/>
        </p:txBody>
      </p:sp>
      <p:sp>
        <p:nvSpPr>
          <p:cNvPr id="6" name="Text 1"/>
          <p:cNvSpPr/>
          <p:nvPr/>
        </p:nvSpPr>
        <p:spPr>
          <a:xfrm>
            <a:off x="812767" y="1142836"/>
            <a:ext cx="10883460" cy="238775"/>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8102E"/>
                </a:solidFill>
                <a:latin typeface="Public Sans" pitchFamily="34" charset="0"/>
                <a:ea typeface="Public Sans" pitchFamily="34" charset="-122"/>
                <a:cs typeface="Public Sans" pitchFamily="34" charset="-120"/>
              </a:rPr>
              <a:t>01 · THE TARGET</a:t>
            </a:r>
            <a:endParaRPr lang="en-US" sz="1200" dirty="0"/>
          </a:p>
        </p:txBody>
      </p:sp>
      <p:sp>
        <p:nvSpPr>
          <p:cNvPr id="7" name="Text 2"/>
          <p:cNvSpPr/>
          <p:nvPr>
            <p:ph type="title"/>
          </p:nvPr>
        </p:nvSpPr>
        <p:spPr>
          <a:xfrm>
            <a:off x="812767" y="1406978"/>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1917"/>
                </a:solidFill>
                <a:latin typeface="Oswald" pitchFamily="34" charset="0"/>
                <a:ea typeface="Oswald" pitchFamily="34" charset="-122"/>
                <a:cs typeface="Oswald" pitchFamily="34" charset="-120"/>
              </a:rPr>
              <a:t>PROBLEM STATEMENT &amp; UNDERSTANDING</a:t>
            </a:r>
            <a:endParaRPr lang="en-US" sz="3200" dirty="0"/>
          </a:p>
        </p:txBody>
      </p:sp>
      <p:sp>
        <p:nvSpPr>
          <p:cNvPr id="9" name="Shape 4"/>
          <p:cNvSpPr/>
          <p:nvPr/>
        </p:nvSpPr>
        <p:spPr>
          <a:xfrm>
            <a:off x="815942" y="2319382"/>
            <a:ext cx="5175294" cy="3519443"/>
          </a:xfrm>
          <a:prstGeom prst="roundRect">
            <a:avLst>
              <a:gd name="adj" fmla="val 2075"/>
            </a:avLst>
          </a:prstGeom>
          <a:solidFill>
            <a:srgbClr val="FFFDF8"/>
          </a:solidFill>
          <a:ln w="6350">
            <a:solidFill>
              <a:srgbClr val="E2D8C8"/>
            </a:solidFill>
            <a:prstDash val="solid"/>
          </a:ln>
        </p:spPr>
        <p:txBody>
          <a:bodyPr/>
          <a:p/>
        </p:txBody>
      </p:sp>
      <p:sp>
        <p:nvSpPr>
          <p:cNvPr id="10" name="Text 5"/>
          <p:cNvSpPr/>
          <p:nvPr/>
        </p:nvSpPr>
        <p:spPr>
          <a:xfrm>
            <a:off x="1070295" y="2548324"/>
            <a:ext cx="4806586"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8102E"/>
                </a:solidFill>
                <a:latin typeface="Oswald" pitchFamily="34" charset="0"/>
                <a:ea typeface="Oswald" pitchFamily="34" charset="-122"/>
                <a:cs typeface="Oswald" pitchFamily="34" charset="-120"/>
              </a:rPr>
              <a:t>PROBLEM STATEMENT</a:t>
            </a:r>
            <a:endParaRPr lang="en-US" sz="1800" dirty="0"/>
          </a:p>
        </p:txBody>
      </p:sp>
      <p:sp>
        <p:nvSpPr>
          <p:cNvPr id="11" name="Text 6"/>
          <p:cNvSpPr/>
          <p:nvPr/>
        </p:nvSpPr>
        <p:spPr>
          <a:xfrm>
            <a:off x="1154877" y="2949609"/>
            <a:ext cx="4714384" cy="2697480"/>
          </a:xfrm>
          <a:prstGeom prst="rect">
            <a:avLst/>
          </a:prstGeom>
          <a:noFill/>
          <a:ln/>
        </p:spPr>
        <p:txBody>
          <a:bodyPr wrap="square" lIns="0" tIns="0" rIns="0" bIns="0" rtlCol="0" anchor="t">
            <a:normAutofit/>
          </a:bodyPr>
          <a:lstStyle/>
          <a:p>
            <a:pPr algn="l" marL="146304" indent="-146304">
              <a:lnSpc>
                <a:spcPct val="115000"/>
              </a:lnSpc>
              <a:spcBef>
                <a:spcPts val="0"/>
              </a:spcBef>
              <a:spcAft>
                <a:spcPts val="1200"/>
              </a:spcAft>
              <a:buSzPct val="100000"/>
              <a:buChar char="•"/>
            </a:pPr>
            <a:pPr algn="l" marL="169418" indent="-169418">
              <a:lnSpc>
                <a:spcPts val="2030"/>
              </a:lnSpc>
              <a:buSzPct val="100000"/>
              <a:buChar char="•"/>
            </a:pPr>
            <a:r>
              <a:rPr lang="en-US" sz="1800" dirty="0">
                <a:solidFill>
                  <a:srgbClr val="1E1917"/>
                </a:solidFill>
                <a:latin typeface="Public Sans" pitchFamily="34" charset="0"/>
                <a:ea typeface="Public Sans" pitchFamily="34" charset="-122"/>
                <a:cs typeface="Public Sans" pitchFamily="34" charset="-120"/>
              </a:rPr>
              <a:t>Phishing links, payment traps and impersonation arrive across apps.</a:t>
            </a:r>
            <a:endParaRPr lang="en-US" sz="1400" dirty="0"/>
          </a:p>
          <a:p>
            <a:pPr algn="l" marL="146304" indent="-146304">
              <a:lnSpc>
                <a:spcPct val="115000"/>
              </a:lnSpc>
              <a:spcBef>
                <a:spcPts val="0"/>
              </a:spcBef>
              <a:spcAft>
                <a:spcPts val="1200"/>
              </a:spcAft>
              <a:buSzPct val="100000"/>
              <a:buChar char="•"/>
            </a:pPr>
            <a:r>
              <a:rPr lang="en-US" sz="1800" dirty="0">
                <a:solidFill>
                  <a:srgbClr val="1E1917"/>
                </a:solidFill>
                <a:latin typeface="Public Sans" pitchFamily="34" charset="0"/>
                <a:ea typeface="Public Sans" pitchFamily="34" charset="-122"/>
                <a:cs typeface="Public Sans" pitchFamily="34" charset="-120"/>
              </a:rPr>
              <a:t>People must decide before sharing secrets, installing apps or paying.</a:t>
            </a:r>
          </a:p>
          <a:p>
            <a:pPr algn="l" marL="146304" indent="-146304">
              <a:lnSpc>
                <a:spcPct val="115000"/>
              </a:lnSpc>
              <a:spcBef>
                <a:spcPts val="0"/>
              </a:spcBef>
              <a:spcAft>
                <a:spcPts val="1200"/>
              </a:spcAft>
              <a:buSzPct val="100000"/>
              <a:buChar char="•"/>
            </a:pPr>
            <a:r>
              <a:rPr lang="en-US" sz="1800" dirty="0">
                <a:solidFill>
                  <a:srgbClr val="1E1917"/>
                </a:solidFill>
                <a:latin typeface="Public Sans" pitchFamily="34" charset="0"/>
                <a:ea typeface="Public Sans" pitchFamily="34" charset="-122"/>
                <a:cs typeface="Public Sans" pitchFamily="34" charset="-120"/>
              </a:rPr>
              <a:t>Local-language readers need clear, accessible guidance.</a:t>
            </a:r>
          </a:p>
        </p:txBody>
      </p:sp>
      <p:sp>
        <p:nvSpPr>
          <p:cNvPr id="12" name="Shape 7"/>
          <p:cNvSpPr/>
          <p:nvPr/>
        </p:nvSpPr>
        <p:spPr>
          <a:xfrm>
            <a:off x="6200764" y="2319382"/>
            <a:ext cx="5175294" cy="3519443"/>
          </a:xfrm>
          <a:prstGeom prst="roundRect">
            <a:avLst>
              <a:gd name="adj" fmla="val 2075"/>
            </a:avLst>
          </a:prstGeom>
          <a:solidFill>
            <a:srgbClr val="FFFDF8"/>
          </a:solidFill>
          <a:ln w="6350">
            <a:solidFill>
              <a:srgbClr val="E2D8C8"/>
            </a:solidFill>
            <a:prstDash val="solid"/>
          </a:ln>
        </p:spPr>
        <p:txBody>
          <a:bodyPr/>
          <a:p/>
        </p:txBody>
      </p:sp>
      <p:sp>
        <p:nvSpPr>
          <p:cNvPr id="13" name="Text 8"/>
          <p:cNvSpPr/>
          <p:nvPr/>
        </p:nvSpPr>
        <p:spPr>
          <a:xfrm>
            <a:off x="6455116" y="2548324"/>
            <a:ext cx="4806586"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8102E"/>
                </a:solidFill>
                <a:latin typeface="Oswald" pitchFamily="34" charset="0"/>
                <a:ea typeface="Oswald" pitchFamily="34" charset="-122"/>
                <a:cs typeface="Oswald" pitchFamily="34" charset="-120"/>
              </a:rPr>
              <a:t>OUR UNDERSTANDING</a:t>
            </a:r>
            <a:endParaRPr lang="en-US" sz="1800" dirty="0"/>
          </a:p>
        </p:txBody>
      </p:sp>
      <p:sp>
        <p:nvSpPr>
          <p:cNvPr id="14" name="Text 9"/>
          <p:cNvSpPr/>
          <p:nvPr/>
        </p:nvSpPr>
        <p:spPr>
          <a:xfrm>
            <a:off x="6539698" y="2949609"/>
            <a:ext cx="4714384" cy="2697480"/>
          </a:xfrm>
          <a:prstGeom prst="rect">
            <a:avLst/>
          </a:prstGeom>
          <a:noFill/>
          <a:ln/>
        </p:spPr>
        <p:txBody>
          <a:bodyPr wrap="square" lIns="0" tIns="0" rIns="0" bIns="0" rtlCol="0" anchor="t">
            <a:normAutofit/>
          </a:bodyPr>
          <a:lstStyle/>
          <a:p>
            <a:pPr algn="l" marL="146304" indent="-146304">
              <a:lnSpc>
                <a:spcPct val="115000"/>
              </a:lnSpc>
              <a:spcBef>
                <a:spcPts val="0"/>
              </a:spcBef>
              <a:spcAft>
                <a:spcPts val="1200"/>
              </a:spcAft>
              <a:buSzPct val="100000"/>
              <a:buChar char="•"/>
            </a:pPr>
            <a:pPr algn="l" marL="169418" indent="-169418">
              <a:lnSpc>
                <a:spcPts val="2030"/>
              </a:lnSpc>
              <a:buSzPct val="100000"/>
              <a:buChar char="•"/>
            </a:pPr>
            <a:r>
              <a:rPr lang="en-US" sz="1800" dirty="0">
                <a:solidFill>
                  <a:srgbClr val="1E1917"/>
                </a:solidFill>
                <a:latin typeface="Public Sans" pitchFamily="34" charset="0"/>
                <a:ea typeface="Public Sans" pitchFamily="34" charset="-122"/>
                <a:cs typeface="Public Sans" pitchFamily="34" charset="-120"/>
              </a:rPr>
              <a:t>Urgency and trusted branding can hide a dangerous request.</a:t>
            </a:r>
            <a:endParaRPr lang="en-US" sz="1400" dirty="0"/>
          </a:p>
          <a:p>
            <a:pPr algn="l" marL="146304" indent="-146304">
              <a:lnSpc>
                <a:spcPct val="115000"/>
              </a:lnSpc>
              <a:spcBef>
                <a:spcPts val="0"/>
              </a:spcBef>
              <a:spcAft>
                <a:spcPts val="1200"/>
              </a:spcAft>
              <a:buSzPct val="100000"/>
              <a:buChar char="•"/>
            </a:pPr>
            <a:r>
              <a:rPr lang="en-US" sz="1800" dirty="0">
                <a:solidFill>
                  <a:srgbClr val="1E1917"/>
                </a:solidFill>
                <a:latin typeface="Public Sans" pitchFamily="34" charset="0"/>
                <a:ea typeface="Public Sans" pitchFamily="34" charset="-122"/>
                <a:cs typeface="Public Sans" pitchFamily="34" charset="-120"/>
              </a:rPr>
              <a:t>Single-message checks can miss a scam spread across messages.</a:t>
            </a:r>
          </a:p>
          <a:p>
            <a:pPr algn="l" marL="146304" indent="-146304">
              <a:lnSpc>
                <a:spcPct val="115000"/>
              </a:lnSpc>
              <a:spcBef>
                <a:spcPts val="0"/>
              </a:spcBef>
              <a:spcAft>
                <a:spcPts val="1200"/>
              </a:spcAft>
              <a:buSzPct val="100000"/>
              <a:buChar char="•"/>
            </a:pPr>
            <a:r>
              <a:rPr lang="en-US" sz="1800" dirty="0">
                <a:solidFill>
                  <a:srgbClr val="1E1917"/>
                </a:solidFill>
                <a:latin typeface="Public Sans" pitchFamily="34" charset="0"/>
                <a:ea typeface="Public Sans" pitchFamily="34" charset="-122"/>
                <a:cs typeface="Public Sans" pitchFamily="34" charset="-120"/>
              </a:rPr>
              <a:t>Privacy, offline use and understandable evidence must work together.</a:t>
            </a:r>
          </a:p>
        </p:txBody>
      </p:sp>
      <p:sp>
        <p:nvSpPr>
          <p:cNvPr id="15" name="Text 10"/>
          <p:cNvSpPr/>
          <p:nvPr/>
        </p:nvSpPr>
        <p:spPr>
          <a:xfrm>
            <a:off x="812767" y="6238269"/>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04A"/>
                </a:solidFill>
                <a:latin typeface="Public Sans" pitchFamily="34" charset="0"/>
                <a:ea typeface="Public Sans" pitchFamily="34" charset="-122"/>
                <a:cs typeface="Public Sans" pitchFamily="34" charset="-120"/>
              </a:rPr>
              <a:t>Code Carnival 3.0 · ADSC, Atmiya University</a:t>
            </a:r>
            <a:endParaRPr lang="en-US" sz="1200" dirty="0"/>
          </a:p>
        </p:txBody>
      </p:sp>
      <p:sp>
        <p:nvSpPr>
          <p:cNvPr id="16" name="Text 11"/>
          <p:cNvSpPr/>
          <p:nvPr/>
        </p:nvSpPr>
        <p:spPr>
          <a:xfrm>
            <a:off x="8108983" y="6238269"/>
            <a:ext cx="3270250" cy="238775"/>
          </a:xfrm>
          <a:prstGeom prst="rect">
            <a:avLst/>
          </a:prstGeom>
          <a:noFill/>
          <a:ln/>
        </p:spPr>
        <p:txBody>
          <a:bodyPr wrap="square" lIns="0" tIns="0" rIns="0" bIns="0" rtlCol="0" anchor="t">
            <a:normAutofit/>
          </a:bodyPr>
          <a:lstStyle/>
          <a:p>
            <a:pPr algn="r" indent="0" marL="0">
              <a:lnSpc>
                <a:spcPct val="110000"/>
              </a:lnSpc>
              <a:spcBef>
                <a:spcPts val="0"/>
              </a:spcBef>
              <a:spcAft>
                <a:spcPts val="0"/>
              </a:spcAft>
              <a:buNone/>
            </a:pPr>
            <a:pPr algn="r" indent="0" marL="0">
              <a:lnSpc>
                <a:spcPts val="1680"/>
              </a:lnSpc>
              <a:buNone/>
            </a:pPr>
            <a:r>
              <a:rPr lang="en-US" sz="1200" b="1" spc="100" kern="0" dirty="0">
                <a:solidFill>
                  <a:srgbClr val="C8102E"/>
                </a:solidFill>
                <a:latin typeface="Public Sans" pitchFamily="34" charset="0"/>
                <a:ea typeface="Public Sans" pitchFamily="34" charset="-122"/>
                <a:cs typeface="Public Sans" pitchFamily="34" charset="-120"/>
              </a:rPr>
              <a:t>Doclock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0E6"/>
        </a:solidFill>
      </p:bgPr>
    </p:bg>
    <p:spTree>
      <p:nvGrpSpPr>
        <p:cNvPr id="1" name=""/>
        <p:cNvGrpSpPr/>
        <p:nvPr/>
      </p:nvGrpSpPr>
      <p:grpSpPr>
        <a:xfrm>
          <a:off x="0" y="0"/>
          <a:ext cx="0" cy="0"/>
          <a:chOff x="0" y="0"/>
          <a:chExt cx="0" cy="0"/>
        </a:xfrm>
      </p:grpSpPr>
      <p:pic>
        <p:nvPicPr>
          <p:cNvPr id="2" name="Image 0" descr="Atmiya University logo">    </p:cNvPr>
          <p:cNvPicPr>
            <a:picLocks noChangeAspect="1"/>
          </p:cNvPicPr>
          <p:nvPr/>
        </p:nvPicPr>
        <p:blipFill>
          <a:blip r:embed="rId1"/>
          <a:srcRect l="0" r="0" t="-43" b="-43"/>
          <a:stretch/>
        </p:blipFill>
        <p:spPr>
          <a:xfrm>
            <a:off x="812767" y="330178"/>
            <a:ext cx="1428750" cy="406356"/>
          </a:xfrm>
          <a:prstGeom prst="rect">
            <a:avLst/>
          </a:prstGeom>
        </p:spPr>
      </p:pic>
      <p:pic>
        <p:nvPicPr>
          <p:cNvPr id="3" name="Image 1" descr="Centre for Research, Innovation and Translation logo">    </p:cNvPr>
          <p:cNvPicPr>
            <a:picLocks noChangeAspect="1"/>
          </p:cNvPicPr>
          <p:nvPr/>
        </p:nvPicPr>
        <p:blipFill>
          <a:blip r:embed="rId2"/>
          <a:srcRect l="-420" r="-420" t="0" b="0"/>
          <a:stretch/>
        </p:blipFill>
        <p:spPr>
          <a:xfrm>
            <a:off x="9467948" y="304767"/>
            <a:ext cx="457178" cy="457178"/>
          </a:xfrm>
          <a:prstGeom prst="rect">
            <a:avLst/>
          </a:prstGeom>
        </p:spPr>
      </p:pic>
      <p:pic>
        <p:nvPicPr>
          <p:cNvPr id="4" name="Image 2" descr="ADSC logo">    </p:cNvPr>
          <p:cNvPicPr>
            <a:picLocks noChangeAspect="1"/>
          </p:cNvPicPr>
          <p:nvPr/>
        </p:nvPicPr>
        <p:blipFill>
          <a:blip r:embed="rId3"/>
          <a:srcRect l="0" r="0" t="-111" b="-111"/>
          <a:stretch/>
        </p:blipFill>
        <p:spPr>
          <a:xfrm>
            <a:off x="10128304" y="393678"/>
            <a:ext cx="1250928" cy="279356"/>
          </a:xfrm>
          <a:prstGeom prst="rect">
            <a:avLst/>
          </a:prstGeom>
        </p:spPr>
      </p:pic>
      <p:sp>
        <p:nvSpPr>
          <p:cNvPr id="5" name="Shape 0"/>
          <p:cNvSpPr/>
          <p:nvPr/>
        </p:nvSpPr>
        <p:spPr>
          <a:xfrm>
            <a:off x="812767" y="939712"/>
            <a:ext cx="10566466" cy="25356"/>
          </a:xfrm>
          <a:prstGeom prst="rect">
            <a:avLst/>
          </a:prstGeom>
          <a:solidFill>
            <a:srgbClr val="C8102E"/>
          </a:solidFill>
          <a:ln/>
        </p:spPr>
        <p:txBody>
          <a:bodyPr/>
          <a:p/>
        </p:txBody>
      </p:sp>
      <p:sp>
        <p:nvSpPr>
          <p:cNvPr id="6" name="Text 1"/>
          <p:cNvSpPr/>
          <p:nvPr/>
        </p:nvSpPr>
        <p:spPr>
          <a:xfrm>
            <a:off x="812767" y="1142834"/>
            <a:ext cx="10883460" cy="238775"/>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8102E"/>
                </a:solidFill>
                <a:latin typeface="Public Sans" pitchFamily="34" charset="0"/>
                <a:ea typeface="Public Sans" pitchFamily="34" charset="-122"/>
                <a:cs typeface="Public Sans" pitchFamily="34" charset="-120"/>
              </a:rPr>
              <a:t>02 · THE PLAN</a:t>
            </a:r>
            <a:endParaRPr lang="en-US" sz="1200" dirty="0"/>
          </a:p>
        </p:txBody>
      </p:sp>
      <p:sp>
        <p:nvSpPr>
          <p:cNvPr id="7" name="Text 2"/>
          <p:cNvSpPr/>
          <p:nvPr>
            <p:ph type="title"/>
          </p:nvPr>
        </p:nvSpPr>
        <p:spPr>
          <a:xfrm>
            <a:off x="812767" y="1406978"/>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1917"/>
                </a:solidFill>
                <a:latin typeface="Oswald" pitchFamily="34" charset="0"/>
                <a:ea typeface="Oswald" pitchFamily="34" charset="-122"/>
                <a:cs typeface="Oswald" pitchFamily="34" charset="-120"/>
              </a:rPr>
              <a:t>PROPOSED SOLUTION</a:t>
            </a:r>
            <a:endParaRPr lang="en-US" sz="3200" dirty="0"/>
          </a:p>
        </p:txBody>
      </p:sp>
      <p:sp>
        <p:nvSpPr>
          <p:cNvPr id="9" name="Shape 4"/>
          <p:cNvSpPr/>
          <p:nvPr/>
        </p:nvSpPr>
        <p:spPr>
          <a:xfrm>
            <a:off x="815942" y="2319382"/>
            <a:ext cx="5161183" cy="3519443"/>
          </a:xfrm>
          <a:prstGeom prst="roundRect">
            <a:avLst>
              <a:gd name="adj" fmla="val 2075"/>
            </a:avLst>
          </a:prstGeom>
          <a:solidFill>
            <a:srgbClr val="FFFDF8"/>
          </a:solidFill>
          <a:ln w="6350">
            <a:solidFill>
              <a:srgbClr val="E2D8C8"/>
            </a:solidFill>
            <a:prstDash val="solid"/>
          </a:ln>
        </p:spPr>
        <p:txBody>
          <a:bodyPr/>
          <a:p/>
        </p:txBody>
      </p:sp>
      <p:sp>
        <p:nvSpPr>
          <p:cNvPr id="10" name="Text 5"/>
          <p:cNvSpPr/>
          <p:nvPr/>
        </p:nvSpPr>
        <p:spPr>
          <a:xfrm>
            <a:off x="1070295" y="2548324"/>
            <a:ext cx="4792052"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8102E"/>
                </a:solidFill>
                <a:latin typeface="Oswald" pitchFamily="34" charset="0"/>
                <a:ea typeface="Oswald" pitchFamily="34" charset="-122"/>
                <a:cs typeface="Oswald" pitchFamily="34" charset="-120"/>
              </a:rPr>
              <a:t>OUR IDEA</a:t>
            </a:r>
            <a:endParaRPr lang="en-US" sz="1800" dirty="0"/>
          </a:p>
        </p:txBody>
      </p:sp>
      <p:sp>
        <p:nvSpPr>
          <p:cNvPr id="11" name="Text 6"/>
          <p:cNvSpPr/>
          <p:nvPr/>
        </p:nvSpPr>
        <p:spPr>
          <a:xfrm>
            <a:off x="1154877" y="2949608"/>
            <a:ext cx="4699850" cy="2697480"/>
          </a:xfrm>
          <a:prstGeom prst="rect">
            <a:avLst/>
          </a:prstGeom>
          <a:noFill/>
          <a:ln/>
        </p:spPr>
        <p:txBody>
          <a:bodyPr wrap="square" lIns="0" tIns="0" rIns="0" bIns="0" rtlCol="0" anchor="t">
            <a:normAutofit/>
          </a:bodyPr>
          <a:lstStyle/>
          <a:p>
            <a:pPr algn="l" marL="146304" indent="-146304">
              <a:lnSpc>
                <a:spcPct val="115000"/>
              </a:lnSpc>
              <a:spcBef>
                <a:spcPts val="0"/>
              </a:spcBef>
              <a:spcAft>
                <a:spcPts val="900"/>
              </a:spcAft>
              <a:buSzPct val="100000"/>
              <a:buChar char="•"/>
            </a:pPr>
            <a:pPr algn="l" marL="169418" indent="-169418">
              <a:lnSpc>
                <a:spcPts val="2030"/>
              </a:lnSpc>
              <a:buSzPct val="100000"/>
              <a:buChar char="•"/>
            </a:pPr>
            <a:r>
              <a:rPr lang="en-US" sz="1800" dirty="0">
                <a:solidFill>
                  <a:srgbClr val="1E1917"/>
                </a:solidFill>
                <a:latin typeface="Public Sans" pitchFamily="34" charset="0"/>
                <a:ea typeface="Public Sans" pitchFamily="34" charset="-122"/>
                <a:cs typeface="Public Sans" pitchFamily="34" charset="-120"/>
              </a:rPr>
              <a:t>Local AI + rules explain suspicious requests.</a:t>
            </a:r>
            <a:endParaRPr lang="en-US" sz="1400" dirty="0"/>
          </a:p>
          <a:p>
            <a:pPr algn="l" marL="146304" indent="-146304">
              <a:lnSpc>
                <a:spcPct val="115000"/>
              </a:lnSpc>
              <a:spcBef>
                <a:spcPts val="0"/>
              </a:spcBef>
              <a:spcAft>
                <a:spcPts val="900"/>
              </a:spcAft>
              <a:buSzPct val="100000"/>
              <a:buChar char="•"/>
            </a:pPr>
            <a:r>
              <a:rPr lang="en-US" sz="1800" dirty="0">
                <a:solidFill>
                  <a:srgbClr val="1E1917"/>
                </a:solidFill>
                <a:latin typeface="Public Sans" pitchFamily="34" charset="0"/>
                <a:ea typeface="Public Sans" pitchFamily="34" charset="-122"/>
                <a:cs typeface="Public Sans" pitchFamily="34" charset="-120"/>
              </a:rPr>
              <a:t>Android app and Chrome extension fit everyday workflows.</a:t>
            </a:r>
          </a:p>
          <a:p>
            <a:pPr algn="l" marL="146304" indent="-146304">
              <a:lnSpc>
                <a:spcPct val="115000"/>
              </a:lnSpc>
              <a:spcBef>
                <a:spcPts val="0"/>
              </a:spcBef>
              <a:spcAft>
                <a:spcPts val="900"/>
              </a:spcAft>
              <a:buSzPct val="100000"/>
              <a:buChar char="•"/>
            </a:pPr>
            <a:r>
              <a:rPr lang="en-US" sz="1800" dirty="0">
                <a:solidFill>
                  <a:srgbClr val="1E1917"/>
                </a:solidFill>
                <a:latin typeface="Public Sans" pitchFamily="34" charset="0"/>
                <a:ea typeface="Public Sans" pitchFamily="34" charset="-122"/>
                <a:cs typeface="Public Sans" pitchFamily="34" charset="-120"/>
              </a:rPr>
              <a:t>Scam Story Mode connects reviewed evidence.</a:t>
            </a:r>
          </a:p>
          <a:p>
            <a:pPr algn="l" marL="146304" indent="-146304">
              <a:lnSpc>
                <a:spcPct val="115000"/>
              </a:lnSpc>
              <a:spcBef>
                <a:spcPts val="0"/>
              </a:spcBef>
              <a:spcAft>
                <a:spcPts val="900"/>
              </a:spcAft>
              <a:buSzPct val="100000"/>
              <a:buChar char="•"/>
            </a:pPr>
            <a:r>
              <a:rPr lang="en-US" sz="1800" dirty="0">
                <a:solidFill>
                  <a:srgbClr val="1E1917"/>
                </a:solidFill>
                <a:latin typeface="Public Sans" pitchFamily="34" charset="0"/>
                <a:ea typeface="Public Sans" pitchFamily="34" charset="-122"/>
                <a:cs typeface="Public Sans" pitchFamily="34" charset="-120"/>
              </a:rPr>
              <a:t>English / Hindi / Gujarati; larger text and guided setup.</a:t>
            </a:r>
          </a:p>
        </p:txBody>
      </p:sp>
      <p:sp>
        <p:nvSpPr>
          <p:cNvPr id="12" name="Shape 7"/>
          <p:cNvSpPr/>
          <p:nvPr/>
        </p:nvSpPr>
        <p:spPr>
          <a:xfrm>
            <a:off x="6193003" y="2325732"/>
            <a:ext cx="5176705" cy="3506743"/>
          </a:xfrm>
          <a:prstGeom prst="roundRect">
            <a:avLst>
              <a:gd name="adj" fmla="val 1901"/>
            </a:avLst>
          </a:prstGeom>
          <a:noFill/>
          <a:ln w="19050">
            <a:solidFill>
              <a:srgbClr val="B9AC9A"/>
            </a:solidFill>
            <a:prstDash val="dash"/>
          </a:ln>
        </p:spPr>
        <p:txBody>
          <a:bodyPr/>
          <a:p/>
        </p:txBody>
      </p:sp>
      <p:sp>
        <p:nvSpPr>
          <p:cNvPr id="15" name="Text 10"/>
          <p:cNvSpPr/>
          <p:nvPr/>
        </p:nvSpPr>
        <p:spPr>
          <a:xfrm>
            <a:off x="812767" y="6238269"/>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04A"/>
                </a:solidFill>
                <a:latin typeface="Public Sans" pitchFamily="34" charset="0"/>
                <a:ea typeface="Public Sans" pitchFamily="34" charset="-122"/>
                <a:cs typeface="Public Sans" pitchFamily="34" charset="-120"/>
              </a:rPr>
              <a:t>Code Carnival 3.0 · ADSC, Atmiya University</a:t>
            </a:r>
            <a:endParaRPr lang="en-US" sz="1200" dirty="0"/>
          </a:p>
        </p:txBody>
      </p:sp>
      <p:sp>
        <p:nvSpPr>
          <p:cNvPr id="16" name="Text 11"/>
          <p:cNvSpPr/>
          <p:nvPr/>
        </p:nvSpPr>
        <p:spPr>
          <a:xfrm>
            <a:off x="8108983" y="6238269"/>
            <a:ext cx="3270250" cy="238775"/>
          </a:xfrm>
          <a:prstGeom prst="rect">
            <a:avLst/>
          </a:prstGeom>
          <a:noFill/>
          <a:ln/>
        </p:spPr>
        <p:txBody>
          <a:bodyPr wrap="square" lIns="0" tIns="0" rIns="0" bIns="0" rtlCol="0" anchor="t">
            <a:normAutofit/>
          </a:bodyPr>
          <a:lstStyle/>
          <a:p>
            <a:pPr algn="r" indent="0" marL="0">
              <a:lnSpc>
                <a:spcPct val="110000"/>
              </a:lnSpc>
              <a:spcBef>
                <a:spcPts val="0"/>
              </a:spcBef>
              <a:spcAft>
                <a:spcPts val="0"/>
              </a:spcAft>
              <a:buNone/>
            </a:pPr>
            <a:pPr algn="r" indent="0" marL="0">
              <a:lnSpc>
                <a:spcPts val="1680"/>
              </a:lnSpc>
              <a:buNone/>
            </a:pPr>
            <a:r>
              <a:rPr lang="en-US" sz="1200" b="1" spc="100" kern="0" dirty="0">
                <a:solidFill>
                  <a:srgbClr val="C8102E"/>
                </a:solidFill>
                <a:latin typeface="Public Sans" pitchFamily="34" charset="0"/>
                <a:ea typeface="Public Sans" pitchFamily="34" charset="-122"/>
                <a:cs typeface="Public Sans" pitchFamily="34" charset="-120"/>
              </a:rPr>
              <a:t>Doclock</a:t>
            </a:r>
            <a:endParaRPr lang="en-US" sz="1200" dirty="0"/>
          </a:p>
        </p:txBody>
      </p:sp>
      <p:sp>
        <p:nvSpPr>
          <p:cNvPr id="17" name="TextBox 16"/>
          <p:cNvSpPr txBox="1"/>
          <p:nvPr/>
        </p:nvSpPr>
        <p:spPr>
          <a:xfrm>
            <a:off x="6455664" y="2532888"/>
            <a:ext cx="4599432" cy="365760"/>
          </a:xfrm>
          <a:prstGeom prst="rect">
            <a:avLst/>
          </a:prstGeom>
          <a:noFill/>
        </p:spPr>
        <p:txBody>
          <a:bodyPr wrap="square" lIns="0" rIns="0" tIns="0" bIns="0">
            <a:spAutoFit/>
          </a:bodyPr>
          <a:lstStyle/>
          <a:p>
            <a:pPr algn="l">
              <a:lnSpc>
                <a:spcPct val="108000"/>
              </a:lnSpc>
              <a:spcAft>
                <a:spcPts val="0"/>
              </a:spcAft>
            </a:pPr>
            <a:r>
              <a:rPr sz="1800" b="1">
                <a:solidFill>
                  <a:srgbClr val="C8102E"/>
                </a:solidFill>
                <a:latin typeface="Oswald"/>
              </a:rPr>
              <a:t>FROM CONTENT TO A CLEAR NEXT STEP</a:t>
            </a:r>
          </a:p>
        </p:txBody>
      </p:sp>
      <p:sp>
        <p:nvSpPr>
          <p:cNvPr id="18" name="Rounded Rectangle 17"/>
          <p:cNvSpPr/>
          <p:nvPr/>
        </p:nvSpPr>
        <p:spPr>
          <a:xfrm>
            <a:off x="6537960" y="3008376"/>
            <a:ext cx="4526280" cy="530352"/>
          </a:xfrm>
          <a:prstGeom prst="roundRect">
            <a:avLst>
              <a:gd name="adj" fmla="val 5000"/>
            </a:avLst>
          </a:prstGeom>
          <a:solidFill>
            <a:srgbClr val="FFFFFF"/>
          </a:solidFill>
          <a:ln w="1270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3118104"/>
            <a:ext cx="4242816" cy="310896"/>
          </a:xfrm>
          <a:prstGeom prst="rect">
            <a:avLst/>
          </a:prstGeom>
          <a:noFill/>
        </p:spPr>
        <p:txBody>
          <a:bodyPr wrap="square" lIns="0" rIns="0" tIns="0" bIns="0">
            <a:spAutoFit/>
          </a:bodyPr>
          <a:lstStyle/>
          <a:p>
            <a:pPr algn="ctr">
              <a:lnSpc>
                <a:spcPct val="108000"/>
              </a:lnSpc>
              <a:spcAft>
                <a:spcPts val="0"/>
              </a:spcAft>
            </a:pPr>
            <a:r>
              <a:rPr sz="1800" b="0">
                <a:solidFill>
                  <a:srgbClr val="1E1917"/>
                </a:solidFill>
                <a:latin typeface="Public Sans"/>
              </a:rPr>
              <a:t>Message / link / screenshot / QR</a:t>
            </a:r>
          </a:p>
        </p:txBody>
      </p:sp>
      <p:sp>
        <p:nvSpPr>
          <p:cNvPr id="20" name="Rounded Rectangle 19"/>
          <p:cNvSpPr/>
          <p:nvPr/>
        </p:nvSpPr>
        <p:spPr>
          <a:xfrm>
            <a:off x="6537960" y="3739896"/>
            <a:ext cx="4526280" cy="530352"/>
          </a:xfrm>
          <a:prstGeom prst="roundRect">
            <a:avLst>
              <a:gd name="adj" fmla="val 5000"/>
            </a:avLst>
          </a:prstGeom>
          <a:solidFill>
            <a:srgbClr val="FFFFFF"/>
          </a:solidFill>
          <a:ln w="1270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3849624"/>
            <a:ext cx="4242816" cy="310896"/>
          </a:xfrm>
          <a:prstGeom prst="rect">
            <a:avLst/>
          </a:prstGeom>
          <a:noFill/>
        </p:spPr>
        <p:txBody>
          <a:bodyPr wrap="square" lIns="0" rIns="0" tIns="0" bIns="0">
            <a:spAutoFit/>
          </a:bodyPr>
          <a:lstStyle/>
          <a:p>
            <a:pPr algn="ctr">
              <a:lnSpc>
                <a:spcPct val="108000"/>
              </a:lnSpc>
              <a:spcAft>
                <a:spcPts val="0"/>
              </a:spcAft>
            </a:pPr>
            <a:r>
              <a:rPr sz="1800" b="0">
                <a:solidFill>
                  <a:srgbClr val="1E1917"/>
                </a:solidFill>
                <a:latin typeface="Public Sans"/>
              </a:rPr>
              <a:t>On-device models + security rules</a:t>
            </a:r>
          </a:p>
        </p:txBody>
      </p:sp>
      <p:sp>
        <p:nvSpPr>
          <p:cNvPr id="22" name="Rounded Rectangle 21"/>
          <p:cNvSpPr/>
          <p:nvPr/>
        </p:nvSpPr>
        <p:spPr>
          <a:xfrm>
            <a:off x="6537960" y="4471416"/>
            <a:ext cx="4526280" cy="530352"/>
          </a:xfrm>
          <a:prstGeom prst="roundRect">
            <a:avLst>
              <a:gd name="adj" fmla="val 5000"/>
            </a:avLst>
          </a:prstGeom>
          <a:solidFill>
            <a:srgbClr val="FFFFFF"/>
          </a:solidFill>
          <a:ln w="1270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4581144"/>
            <a:ext cx="4242816" cy="310896"/>
          </a:xfrm>
          <a:prstGeom prst="rect">
            <a:avLst/>
          </a:prstGeom>
          <a:noFill/>
        </p:spPr>
        <p:txBody>
          <a:bodyPr wrap="square" lIns="0" rIns="0" tIns="0" bIns="0">
            <a:spAutoFit/>
          </a:bodyPr>
          <a:lstStyle/>
          <a:p>
            <a:pPr algn="ctr">
              <a:lnSpc>
                <a:spcPct val="108000"/>
              </a:lnSpc>
              <a:spcAft>
                <a:spcPts val="0"/>
              </a:spcAft>
            </a:pPr>
            <a:r>
              <a:rPr sz="1800" b="0">
                <a:solidFill>
                  <a:srgbClr val="1E1917"/>
                </a:solidFill>
                <a:latin typeface="Public Sans"/>
              </a:rPr>
              <a:t>Warning + evidence + next step</a:t>
            </a:r>
          </a:p>
        </p:txBody>
      </p:sp>
      <p:sp>
        <p:nvSpPr>
          <p:cNvPr id="24" name="Right Arrow 23"/>
          <p:cNvSpPr/>
          <p:nvPr/>
        </p:nvSpPr>
        <p:spPr>
          <a:xfrm rot="5400000">
            <a:off x="8705088" y="3575304"/>
            <a:ext cx="192024" cy="128016"/>
          </a:xfrm>
          <a:prstGeom prst="rightArrow">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ight Arrow 24"/>
          <p:cNvSpPr/>
          <p:nvPr/>
        </p:nvSpPr>
        <p:spPr>
          <a:xfrm rot="5400000">
            <a:off x="8705088" y="4306824"/>
            <a:ext cx="192024" cy="128016"/>
          </a:xfrm>
          <a:prstGeom prst="rightArrow">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5349240"/>
            <a:ext cx="4590288" cy="365760"/>
          </a:xfrm>
          <a:prstGeom prst="rect">
            <a:avLst/>
          </a:prstGeom>
          <a:noFill/>
        </p:spPr>
        <p:txBody>
          <a:bodyPr wrap="square" lIns="0" rIns="0" tIns="0" bIns="0">
            <a:spAutoFit/>
          </a:bodyPr>
          <a:lstStyle/>
          <a:p>
            <a:pPr algn="ctr">
              <a:lnSpc>
                <a:spcPct val="108000"/>
              </a:lnSpc>
              <a:spcAft>
                <a:spcPts val="0"/>
              </a:spcAft>
            </a:pPr>
            <a:r>
              <a:rPr sz="1800" b="0">
                <a:solidFill>
                  <a:srgbClr val="5A504A"/>
                </a:solidFill>
                <a:latin typeface="Public Sans"/>
              </a:rPr>
              <a:t>User-controlled. No cloud inference.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0E6"/>
        </a:solidFill>
      </p:bgPr>
    </p:bg>
    <p:spTree>
      <p:nvGrpSpPr>
        <p:cNvPr id="1" name=""/>
        <p:cNvGrpSpPr/>
        <p:nvPr/>
      </p:nvGrpSpPr>
      <p:grpSpPr>
        <a:xfrm>
          <a:off x="0" y="0"/>
          <a:ext cx="0" cy="0"/>
          <a:chOff x="0" y="0"/>
          <a:chExt cx="0" cy="0"/>
        </a:xfrm>
      </p:grpSpPr>
      <p:pic>
        <p:nvPicPr>
          <p:cNvPr id="2" name="Image 0" descr="Atmiya University logo">    </p:cNvPr>
          <p:cNvPicPr>
            <a:picLocks noChangeAspect="1"/>
          </p:cNvPicPr>
          <p:nvPr/>
        </p:nvPicPr>
        <p:blipFill>
          <a:blip r:embed="rId1"/>
          <a:srcRect l="0" r="0" t="-43" b="-43"/>
          <a:stretch/>
        </p:blipFill>
        <p:spPr>
          <a:xfrm>
            <a:off x="812767" y="330178"/>
            <a:ext cx="1428750" cy="406356"/>
          </a:xfrm>
          <a:prstGeom prst="rect">
            <a:avLst/>
          </a:prstGeom>
        </p:spPr>
      </p:pic>
      <p:pic>
        <p:nvPicPr>
          <p:cNvPr id="3" name="Image 1" descr="Centre for Research, Innovation and Translation logo">    </p:cNvPr>
          <p:cNvPicPr>
            <a:picLocks noChangeAspect="1"/>
          </p:cNvPicPr>
          <p:nvPr/>
        </p:nvPicPr>
        <p:blipFill>
          <a:blip r:embed="rId2"/>
          <a:srcRect l="-420" r="-420" t="0" b="0"/>
          <a:stretch/>
        </p:blipFill>
        <p:spPr>
          <a:xfrm>
            <a:off x="9467948" y="304769"/>
            <a:ext cx="457178" cy="457178"/>
          </a:xfrm>
          <a:prstGeom prst="rect">
            <a:avLst/>
          </a:prstGeom>
        </p:spPr>
      </p:pic>
      <p:pic>
        <p:nvPicPr>
          <p:cNvPr id="4" name="Image 2" descr="ADSC logo">    </p:cNvPr>
          <p:cNvPicPr>
            <a:picLocks noChangeAspect="1"/>
          </p:cNvPicPr>
          <p:nvPr/>
        </p:nvPicPr>
        <p:blipFill>
          <a:blip r:embed="rId3"/>
          <a:srcRect l="0" r="0" t="-111" b="-111"/>
          <a:stretch/>
        </p:blipFill>
        <p:spPr>
          <a:xfrm>
            <a:off x="10128304" y="393678"/>
            <a:ext cx="1250928" cy="279356"/>
          </a:xfrm>
          <a:prstGeom prst="rect">
            <a:avLst/>
          </a:prstGeom>
        </p:spPr>
      </p:pic>
      <p:sp>
        <p:nvSpPr>
          <p:cNvPr id="5" name="Shape 0"/>
          <p:cNvSpPr/>
          <p:nvPr/>
        </p:nvSpPr>
        <p:spPr>
          <a:xfrm>
            <a:off x="812767" y="939713"/>
            <a:ext cx="10566466" cy="25356"/>
          </a:xfrm>
          <a:prstGeom prst="rect">
            <a:avLst/>
          </a:prstGeom>
          <a:solidFill>
            <a:srgbClr val="C8102E"/>
          </a:solidFill>
          <a:ln/>
        </p:spPr>
        <p:txBody>
          <a:bodyPr/>
          <a:p/>
        </p:txBody>
      </p:sp>
      <p:sp>
        <p:nvSpPr>
          <p:cNvPr id="6" name="Text 1"/>
          <p:cNvSpPr/>
          <p:nvPr/>
        </p:nvSpPr>
        <p:spPr>
          <a:xfrm>
            <a:off x="812767" y="1142836"/>
            <a:ext cx="10883460" cy="238775"/>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8102E"/>
                </a:solidFill>
                <a:latin typeface="Public Sans" pitchFamily="34" charset="0"/>
                <a:ea typeface="Public Sans" pitchFamily="34" charset="-122"/>
                <a:cs typeface="Public Sans" pitchFamily="34" charset="-120"/>
              </a:rPr>
              <a:t>03 · THE ARSENAL</a:t>
            </a:r>
            <a:endParaRPr lang="en-US" sz="1200" dirty="0"/>
          </a:p>
        </p:txBody>
      </p:sp>
      <p:sp>
        <p:nvSpPr>
          <p:cNvPr id="7" name="Text 2"/>
          <p:cNvSpPr/>
          <p:nvPr>
            <p:ph type="title"/>
          </p:nvPr>
        </p:nvSpPr>
        <p:spPr>
          <a:xfrm>
            <a:off x="812767" y="1406978"/>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1917"/>
                </a:solidFill>
                <a:latin typeface="Oswald" pitchFamily="34" charset="0"/>
                <a:ea typeface="Oswald" pitchFamily="34" charset="-122"/>
                <a:cs typeface="Oswald" pitchFamily="34" charset="-120"/>
              </a:rPr>
              <a:t>KEY FEATURES / FUNCTIONALITY</a:t>
            </a:r>
            <a:endParaRPr lang="en-US" sz="3200" dirty="0"/>
          </a:p>
        </p:txBody>
      </p:sp>
      <p:sp>
        <p:nvSpPr>
          <p:cNvPr id="9" name="Shape 4"/>
          <p:cNvSpPr/>
          <p:nvPr/>
        </p:nvSpPr>
        <p:spPr>
          <a:xfrm>
            <a:off x="815942" y="2319384"/>
            <a:ext cx="5200705" cy="1680369"/>
          </a:xfrm>
          <a:prstGeom prst="roundRect">
            <a:avLst>
              <a:gd name="adj" fmla="val 4346"/>
            </a:avLst>
          </a:prstGeom>
          <a:solidFill>
            <a:srgbClr val="FFFDF8"/>
          </a:solidFill>
          <a:ln w="6350">
            <a:solidFill>
              <a:srgbClr val="E2D8C8"/>
            </a:solidFill>
            <a:prstDash val="solid"/>
          </a:ln>
        </p:spPr>
        <p:txBody>
          <a:bodyPr/>
          <a:p/>
        </p:txBody>
      </p:sp>
      <p:sp>
        <p:nvSpPr>
          <p:cNvPr id="10" name="Text 5"/>
          <p:cNvSpPr/>
          <p:nvPr/>
        </p:nvSpPr>
        <p:spPr>
          <a:xfrm>
            <a:off x="1019473" y="2497503"/>
            <a:ext cx="558800" cy="431811"/>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C8102E"/>
                </a:solidFill>
                <a:latin typeface="Oswald" pitchFamily="34" charset="0"/>
                <a:ea typeface="Oswald" pitchFamily="34" charset="-122"/>
                <a:cs typeface="Oswald" pitchFamily="34" charset="-120"/>
              </a:rPr>
              <a:t>01</a:t>
            </a:r>
            <a:endParaRPr lang="en-US" sz="3200" dirty="0"/>
          </a:p>
        </p:txBody>
      </p:sp>
      <p:sp>
        <p:nvSpPr>
          <p:cNvPr id="11" name="Text 6"/>
          <p:cNvSpPr/>
          <p:nvPr/>
        </p:nvSpPr>
        <p:spPr>
          <a:xfrm>
            <a:off x="1679828" y="2497503"/>
            <a:ext cx="4257286" cy="320040"/>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1920"/>
              </a:lnSpc>
              <a:buNone/>
            </a:pPr>
            <a:r>
              <a:rPr lang="en-US" sz="1800" b="1" dirty="0">
                <a:solidFill>
                  <a:srgbClr val="1E1917"/>
                </a:solidFill>
                <a:latin typeface="Public Sans" pitchFamily="34" charset="0"/>
                <a:ea typeface="Public Sans" pitchFamily="34" charset="-122"/>
                <a:cs typeface="Public Sans" pitchFamily="34" charset="-120"/>
              </a:rPr>
              <a:t>Android scanning</a:t>
            </a:r>
            <a:endParaRPr lang="en-US" sz="1600" dirty="0"/>
          </a:p>
        </p:txBody>
      </p:sp>
      <p:sp>
        <p:nvSpPr>
          <p:cNvPr id="12" name="Text 7"/>
          <p:cNvSpPr/>
          <p:nvPr/>
        </p:nvSpPr>
        <p:spPr>
          <a:xfrm>
            <a:off x="1679828" y="2792071"/>
            <a:ext cx="4257286" cy="1024128"/>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1820"/>
              </a:lnSpc>
              <a:buNone/>
            </a:pPr>
            <a:r>
              <a:rPr lang="en-US" sz="1800" dirty="0">
                <a:solidFill>
                  <a:srgbClr val="5A504A"/>
                </a:solidFill>
                <a:latin typeface="Public Sans" pitchFamily="34" charset="0"/>
                <a:ea typeface="Public Sans" pitchFamily="34" charset="-122"/>
                <a:cs typeface="Public Sans" pitchFamily="34" charset="-120"/>
              </a:rPr>
              <a:t>Scan messages, links, screenshots, QR and files. Optional notification warnings and sound.</a:t>
            </a:r>
            <a:endParaRPr lang="en-US" sz="1300" dirty="0"/>
          </a:p>
        </p:txBody>
      </p:sp>
      <p:sp>
        <p:nvSpPr>
          <p:cNvPr id="13" name="Shape 8"/>
          <p:cNvSpPr/>
          <p:nvPr/>
        </p:nvSpPr>
        <p:spPr>
          <a:xfrm>
            <a:off x="6175353" y="2319384"/>
            <a:ext cx="5200705" cy="1680369"/>
          </a:xfrm>
          <a:prstGeom prst="roundRect">
            <a:avLst>
              <a:gd name="adj" fmla="val 4346"/>
            </a:avLst>
          </a:prstGeom>
          <a:solidFill>
            <a:srgbClr val="FFFDF8"/>
          </a:solidFill>
          <a:ln w="6350">
            <a:solidFill>
              <a:srgbClr val="E2D8C8"/>
            </a:solidFill>
            <a:prstDash val="solid"/>
          </a:ln>
        </p:spPr>
        <p:txBody>
          <a:bodyPr/>
          <a:p/>
        </p:txBody>
      </p:sp>
      <p:sp>
        <p:nvSpPr>
          <p:cNvPr id="14" name="Text 9"/>
          <p:cNvSpPr/>
          <p:nvPr/>
        </p:nvSpPr>
        <p:spPr>
          <a:xfrm>
            <a:off x="6378883" y="2497503"/>
            <a:ext cx="558800" cy="431811"/>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C8102E"/>
                </a:solidFill>
                <a:latin typeface="Oswald" pitchFamily="34" charset="0"/>
                <a:ea typeface="Oswald" pitchFamily="34" charset="-122"/>
                <a:cs typeface="Oswald" pitchFamily="34" charset="-120"/>
              </a:rPr>
              <a:t>02</a:t>
            </a:r>
            <a:endParaRPr lang="en-US" sz="3200" dirty="0"/>
          </a:p>
        </p:txBody>
      </p:sp>
      <p:sp>
        <p:nvSpPr>
          <p:cNvPr id="15" name="Text 10"/>
          <p:cNvSpPr/>
          <p:nvPr/>
        </p:nvSpPr>
        <p:spPr>
          <a:xfrm>
            <a:off x="7039239" y="2497503"/>
            <a:ext cx="4257286" cy="320040"/>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1920"/>
              </a:lnSpc>
              <a:buNone/>
            </a:pPr>
            <a:r>
              <a:rPr lang="en-US" sz="1800" b="1" dirty="0">
                <a:solidFill>
                  <a:srgbClr val="1E1917"/>
                </a:solidFill>
                <a:latin typeface="Public Sans" pitchFamily="34" charset="0"/>
                <a:ea typeface="Public Sans" pitchFamily="34" charset="-122"/>
                <a:cs typeface="Public Sans" pitchFamily="34" charset="-120"/>
              </a:rPr>
              <a:t>Floating assistant</a:t>
            </a:r>
            <a:endParaRPr lang="en-US" sz="1600" dirty="0"/>
          </a:p>
        </p:txBody>
      </p:sp>
      <p:sp>
        <p:nvSpPr>
          <p:cNvPr id="16" name="Text 11"/>
          <p:cNvSpPr/>
          <p:nvPr/>
        </p:nvSpPr>
        <p:spPr>
          <a:xfrm>
            <a:off x="7039239" y="2792071"/>
            <a:ext cx="4257286" cy="1024128"/>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1820"/>
              </a:lnSpc>
              <a:buNone/>
            </a:pPr>
            <a:r>
              <a:rPr lang="en-US" sz="1800" dirty="0">
                <a:solidFill>
                  <a:srgbClr val="5A504A"/>
                </a:solidFill>
                <a:latin typeface="Public Sans" pitchFamily="34" charset="0"/>
                <a:ea typeface="Public Sans" pitchFamily="34" charset="-122"/>
                <a:cs typeface="Public Sans" pitchFamily="34" charset="-120"/>
              </a:rPr>
              <a:t>Shield → consent → crop → edit → scan. Paste or import an image for a private result.</a:t>
            </a:r>
            <a:endParaRPr lang="en-US" sz="1300" dirty="0"/>
          </a:p>
        </p:txBody>
      </p:sp>
      <p:sp>
        <p:nvSpPr>
          <p:cNvPr id="17" name="Shape 12"/>
          <p:cNvSpPr/>
          <p:nvPr/>
        </p:nvSpPr>
        <p:spPr>
          <a:xfrm>
            <a:off x="815942" y="4158456"/>
            <a:ext cx="5200705" cy="1680369"/>
          </a:xfrm>
          <a:prstGeom prst="roundRect">
            <a:avLst>
              <a:gd name="adj" fmla="val 4346"/>
            </a:avLst>
          </a:prstGeom>
          <a:solidFill>
            <a:srgbClr val="FFFDF8"/>
          </a:solidFill>
          <a:ln w="6350">
            <a:solidFill>
              <a:srgbClr val="E2D8C8"/>
            </a:solidFill>
            <a:prstDash val="solid"/>
          </a:ln>
        </p:spPr>
        <p:txBody>
          <a:bodyPr/>
          <a:p/>
        </p:txBody>
      </p:sp>
      <p:sp>
        <p:nvSpPr>
          <p:cNvPr id="18" name="Text 13"/>
          <p:cNvSpPr/>
          <p:nvPr/>
        </p:nvSpPr>
        <p:spPr>
          <a:xfrm>
            <a:off x="1019473" y="4336579"/>
            <a:ext cx="558800" cy="431811"/>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C8102E"/>
                </a:solidFill>
                <a:latin typeface="Oswald" pitchFamily="34" charset="0"/>
                <a:ea typeface="Oswald" pitchFamily="34" charset="-122"/>
                <a:cs typeface="Oswald" pitchFamily="34" charset="-120"/>
              </a:rPr>
              <a:t>03</a:t>
            </a:r>
            <a:endParaRPr lang="en-US" sz="3200" dirty="0"/>
          </a:p>
        </p:txBody>
      </p:sp>
      <p:sp>
        <p:nvSpPr>
          <p:cNvPr id="19" name="Text 14"/>
          <p:cNvSpPr/>
          <p:nvPr/>
        </p:nvSpPr>
        <p:spPr>
          <a:xfrm>
            <a:off x="1679828" y="4336579"/>
            <a:ext cx="4257286" cy="320040"/>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1920"/>
              </a:lnSpc>
              <a:buNone/>
            </a:pPr>
            <a:r>
              <a:rPr lang="en-US" sz="1800" b="1" dirty="0">
                <a:solidFill>
                  <a:srgbClr val="1E1917"/>
                </a:solidFill>
                <a:latin typeface="Public Sans" pitchFamily="34" charset="0"/>
                <a:ea typeface="Public Sans" pitchFamily="34" charset="-122"/>
                <a:cs typeface="Public Sans" pitchFamily="34" charset="-120"/>
              </a:rPr>
              <a:t>Chrome protection</a:t>
            </a:r>
            <a:endParaRPr lang="en-US" sz="1600" dirty="0"/>
          </a:p>
        </p:txBody>
      </p:sp>
      <p:sp>
        <p:nvSpPr>
          <p:cNvPr id="20" name="Text 15"/>
          <p:cNvSpPr/>
          <p:nvPr/>
        </p:nvSpPr>
        <p:spPr>
          <a:xfrm>
            <a:off x="1679828" y="4631147"/>
            <a:ext cx="4257286" cy="1024128"/>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1820"/>
              </a:lnSpc>
              <a:buNone/>
            </a:pPr>
            <a:r>
              <a:rPr lang="en-US" sz="1800" dirty="0">
                <a:solidFill>
                  <a:srgbClr val="5A504A"/>
                </a:solidFill>
                <a:latin typeface="Public Sans" pitchFamily="34" charset="0"/>
                <a:ea typeface="Public Sans" pitchFamily="34" charset="-122"/>
                <a:cs typeface="Public Sans" pitchFamily="34" charset="-120"/>
              </a:rPr>
              <a:t>Review text, links and pages. Optional site monitoring and risky click/form warnings.</a:t>
            </a:r>
            <a:endParaRPr lang="en-US" sz="1300" dirty="0"/>
          </a:p>
        </p:txBody>
      </p:sp>
      <p:sp>
        <p:nvSpPr>
          <p:cNvPr id="21" name="Shape 16"/>
          <p:cNvSpPr/>
          <p:nvPr/>
        </p:nvSpPr>
        <p:spPr>
          <a:xfrm>
            <a:off x="6175353" y="4158456"/>
            <a:ext cx="5200705" cy="1680369"/>
          </a:xfrm>
          <a:prstGeom prst="roundRect">
            <a:avLst>
              <a:gd name="adj" fmla="val 4346"/>
            </a:avLst>
          </a:prstGeom>
          <a:solidFill>
            <a:srgbClr val="FFFDF8"/>
          </a:solidFill>
          <a:ln w="6350">
            <a:solidFill>
              <a:srgbClr val="E2D8C8"/>
            </a:solidFill>
            <a:prstDash val="solid"/>
          </a:ln>
        </p:spPr>
        <p:txBody>
          <a:bodyPr/>
          <a:p/>
        </p:txBody>
      </p:sp>
      <p:sp>
        <p:nvSpPr>
          <p:cNvPr id="22" name="Text 17"/>
          <p:cNvSpPr/>
          <p:nvPr/>
        </p:nvSpPr>
        <p:spPr>
          <a:xfrm>
            <a:off x="6378883" y="4336579"/>
            <a:ext cx="558800" cy="431811"/>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C8102E"/>
                </a:solidFill>
                <a:latin typeface="Oswald" pitchFamily="34" charset="0"/>
                <a:ea typeface="Oswald" pitchFamily="34" charset="-122"/>
                <a:cs typeface="Oswald" pitchFamily="34" charset="-120"/>
              </a:rPr>
              <a:t>04</a:t>
            </a:r>
            <a:endParaRPr lang="en-US" sz="3200" dirty="0"/>
          </a:p>
        </p:txBody>
      </p:sp>
      <p:sp>
        <p:nvSpPr>
          <p:cNvPr id="23" name="Text 18"/>
          <p:cNvSpPr/>
          <p:nvPr/>
        </p:nvSpPr>
        <p:spPr>
          <a:xfrm>
            <a:off x="7039239" y="4336579"/>
            <a:ext cx="4257286" cy="320040"/>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1920"/>
              </a:lnSpc>
              <a:buNone/>
            </a:pPr>
            <a:r>
              <a:rPr lang="en-US" sz="1800" b="1" dirty="0">
                <a:solidFill>
                  <a:srgbClr val="1E1917"/>
                </a:solidFill>
                <a:latin typeface="Public Sans" pitchFamily="34" charset="0"/>
                <a:ea typeface="Public Sans" pitchFamily="34" charset="-122"/>
                <a:cs typeface="Public Sans" pitchFamily="34" charset="-120"/>
              </a:rPr>
              <a:t>Scam Story + accessible UX</a:t>
            </a:r>
            <a:endParaRPr lang="en-US" sz="1600" dirty="0"/>
          </a:p>
        </p:txBody>
      </p:sp>
      <p:sp>
        <p:nvSpPr>
          <p:cNvPr id="24" name="Text 19"/>
          <p:cNvSpPr/>
          <p:nvPr/>
        </p:nvSpPr>
        <p:spPr>
          <a:xfrm>
            <a:off x="7039239" y="4631147"/>
            <a:ext cx="4257286" cy="1024128"/>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1820"/>
              </a:lnSpc>
              <a:buNone/>
            </a:pPr>
            <a:r>
              <a:rPr lang="en-US" sz="1800" dirty="0">
                <a:solidFill>
                  <a:srgbClr val="5A504A"/>
                </a:solidFill>
                <a:latin typeface="Public Sans" pitchFamily="34" charset="0"/>
                <a:ea typeface="Public Sans" pitchFamily="34" charset="-122"/>
                <a:cs typeface="Public Sans" pitchFamily="34" charset="-120"/>
              </a:rPr>
              <a:t>Connect messages; save encrypted cases. Three languages, larger text, tours and scam help.</a:t>
            </a:r>
            <a:endParaRPr lang="en-US" sz="1300" dirty="0"/>
          </a:p>
        </p:txBody>
      </p:sp>
      <p:sp>
        <p:nvSpPr>
          <p:cNvPr id="25" name="Text 20"/>
          <p:cNvSpPr/>
          <p:nvPr/>
        </p:nvSpPr>
        <p:spPr>
          <a:xfrm>
            <a:off x="812767" y="6238270"/>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04A"/>
                </a:solidFill>
                <a:latin typeface="Public Sans" pitchFamily="34" charset="0"/>
                <a:ea typeface="Public Sans" pitchFamily="34" charset="-122"/>
                <a:cs typeface="Public Sans" pitchFamily="34" charset="-120"/>
              </a:rPr>
              <a:t>Code Carnival 3.0 · ADSC, Atmiya University</a:t>
            </a:r>
            <a:endParaRPr lang="en-US" sz="1200" dirty="0"/>
          </a:p>
        </p:txBody>
      </p:sp>
      <p:sp>
        <p:nvSpPr>
          <p:cNvPr id="26" name="Text 21"/>
          <p:cNvSpPr/>
          <p:nvPr/>
        </p:nvSpPr>
        <p:spPr>
          <a:xfrm>
            <a:off x="8108983" y="6238270"/>
            <a:ext cx="3270250" cy="238775"/>
          </a:xfrm>
          <a:prstGeom prst="rect">
            <a:avLst/>
          </a:prstGeom>
          <a:noFill/>
          <a:ln/>
        </p:spPr>
        <p:txBody>
          <a:bodyPr wrap="square" lIns="0" tIns="0" rIns="0" bIns="0" rtlCol="0" anchor="t">
            <a:normAutofit/>
          </a:bodyPr>
          <a:lstStyle/>
          <a:p>
            <a:pPr algn="r" indent="0" marL="0">
              <a:lnSpc>
                <a:spcPct val="110000"/>
              </a:lnSpc>
              <a:spcBef>
                <a:spcPts val="0"/>
              </a:spcBef>
              <a:spcAft>
                <a:spcPts val="0"/>
              </a:spcAft>
              <a:buNone/>
            </a:pPr>
            <a:pPr algn="r" indent="0" marL="0">
              <a:lnSpc>
                <a:spcPts val="1680"/>
              </a:lnSpc>
              <a:buNone/>
            </a:pPr>
            <a:r>
              <a:rPr lang="en-US" sz="1200" b="1" spc="100" kern="0" dirty="0">
                <a:solidFill>
                  <a:srgbClr val="C8102E"/>
                </a:solidFill>
                <a:latin typeface="Public Sans" pitchFamily="34" charset="0"/>
                <a:ea typeface="Public Sans" pitchFamily="34" charset="-122"/>
                <a:cs typeface="Public Sans" pitchFamily="34" charset="-120"/>
              </a:rPr>
              <a:t>Doclock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0E6"/>
        </a:solidFill>
      </p:bgPr>
    </p:bg>
    <p:spTree>
      <p:nvGrpSpPr>
        <p:cNvPr id="1" name=""/>
        <p:cNvGrpSpPr/>
        <p:nvPr/>
      </p:nvGrpSpPr>
      <p:grpSpPr>
        <a:xfrm>
          <a:off x="0" y="0"/>
          <a:ext cx="0" cy="0"/>
          <a:chOff x="0" y="0"/>
          <a:chExt cx="0" cy="0"/>
        </a:xfrm>
      </p:grpSpPr>
      <p:pic>
        <p:nvPicPr>
          <p:cNvPr id="2" name="Image 0" descr="Atmiya University logo">    </p:cNvPr>
          <p:cNvPicPr>
            <a:picLocks noChangeAspect="1"/>
          </p:cNvPicPr>
          <p:nvPr/>
        </p:nvPicPr>
        <p:blipFill>
          <a:blip r:embed="rId1"/>
          <a:srcRect l="0" r="0" t="-43" b="-43"/>
          <a:stretch/>
        </p:blipFill>
        <p:spPr>
          <a:xfrm>
            <a:off x="812767" y="330178"/>
            <a:ext cx="1428750" cy="406356"/>
          </a:xfrm>
          <a:prstGeom prst="rect">
            <a:avLst/>
          </a:prstGeom>
        </p:spPr>
      </p:pic>
      <p:pic>
        <p:nvPicPr>
          <p:cNvPr id="3" name="Image 1" descr="Centre for Research, Innovation and Translation logo">    </p:cNvPr>
          <p:cNvPicPr>
            <a:picLocks noChangeAspect="1"/>
          </p:cNvPicPr>
          <p:nvPr/>
        </p:nvPicPr>
        <p:blipFill>
          <a:blip r:embed="rId2"/>
          <a:srcRect l="-420" r="-420" t="0" b="0"/>
          <a:stretch/>
        </p:blipFill>
        <p:spPr>
          <a:xfrm>
            <a:off x="9467948" y="304769"/>
            <a:ext cx="457178" cy="457178"/>
          </a:xfrm>
          <a:prstGeom prst="rect">
            <a:avLst/>
          </a:prstGeom>
        </p:spPr>
      </p:pic>
      <p:pic>
        <p:nvPicPr>
          <p:cNvPr id="4" name="Image 2" descr="ADSC logo">    </p:cNvPr>
          <p:cNvPicPr>
            <a:picLocks noChangeAspect="1"/>
          </p:cNvPicPr>
          <p:nvPr/>
        </p:nvPicPr>
        <p:blipFill>
          <a:blip r:embed="rId3"/>
          <a:srcRect l="0" r="0" t="-111" b="-111"/>
          <a:stretch/>
        </p:blipFill>
        <p:spPr>
          <a:xfrm>
            <a:off x="10128304" y="393678"/>
            <a:ext cx="1250928" cy="279356"/>
          </a:xfrm>
          <a:prstGeom prst="rect">
            <a:avLst/>
          </a:prstGeom>
        </p:spPr>
      </p:pic>
      <p:sp>
        <p:nvSpPr>
          <p:cNvPr id="5" name="Shape 0"/>
          <p:cNvSpPr/>
          <p:nvPr/>
        </p:nvSpPr>
        <p:spPr>
          <a:xfrm>
            <a:off x="812767" y="939713"/>
            <a:ext cx="10566466" cy="25356"/>
          </a:xfrm>
          <a:prstGeom prst="rect">
            <a:avLst/>
          </a:prstGeom>
          <a:solidFill>
            <a:srgbClr val="C8102E"/>
          </a:solidFill>
          <a:ln/>
        </p:spPr>
        <p:txBody>
          <a:bodyPr/>
          <a:p/>
        </p:txBody>
      </p:sp>
      <p:sp>
        <p:nvSpPr>
          <p:cNvPr id="6" name="Text 1"/>
          <p:cNvSpPr/>
          <p:nvPr/>
        </p:nvSpPr>
        <p:spPr>
          <a:xfrm>
            <a:off x="812767" y="1142836"/>
            <a:ext cx="10883460" cy="238775"/>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8102E"/>
                </a:solidFill>
                <a:latin typeface="Public Sans" pitchFamily="34" charset="0"/>
                <a:ea typeface="Public Sans" pitchFamily="34" charset="-122"/>
                <a:cs typeface="Public Sans" pitchFamily="34" charset="-120"/>
              </a:rPr>
              <a:t>04 · THE EXECUTION</a:t>
            </a:r>
            <a:endParaRPr lang="en-US" sz="1200" dirty="0"/>
          </a:p>
        </p:txBody>
      </p:sp>
      <p:sp>
        <p:nvSpPr>
          <p:cNvPr id="7" name="Text 2"/>
          <p:cNvSpPr/>
          <p:nvPr>
            <p:ph type="title"/>
          </p:nvPr>
        </p:nvSpPr>
        <p:spPr>
          <a:xfrm>
            <a:off x="812767" y="1406978"/>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1917"/>
                </a:solidFill>
                <a:latin typeface="Oswald" pitchFamily="34" charset="0"/>
                <a:ea typeface="Oswald" pitchFamily="34" charset="-122"/>
                <a:cs typeface="Oswald" pitchFamily="34" charset="-120"/>
              </a:rPr>
              <a:t>HOW THE SOLUTION WILL WORK</a:t>
            </a:r>
            <a:endParaRPr lang="en-US" sz="3200" dirty="0"/>
          </a:p>
        </p:txBody>
      </p:sp>
      <p:sp>
        <p:nvSpPr>
          <p:cNvPr id="9" name="Shape 4"/>
          <p:cNvSpPr/>
          <p:nvPr/>
        </p:nvSpPr>
        <p:spPr>
          <a:xfrm>
            <a:off x="812767" y="2316209"/>
            <a:ext cx="2317805" cy="791710"/>
          </a:xfrm>
          <a:prstGeom prst="roundRect">
            <a:avLst>
              <a:gd name="adj" fmla="val 9625"/>
            </a:avLst>
          </a:prstGeom>
          <a:solidFill>
            <a:srgbClr val="17120F"/>
          </a:solidFill>
          <a:ln/>
        </p:spPr>
        <p:txBody>
          <a:bodyPr/>
          <a:p/>
        </p:txBody>
      </p:sp>
      <p:sp>
        <p:nvSpPr>
          <p:cNvPr id="10" name="Text 5"/>
          <p:cNvSpPr/>
          <p:nvPr/>
        </p:nvSpPr>
        <p:spPr>
          <a:xfrm>
            <a:off x="990534" y="2468563"/>
            <a:ext cx="2021139" cy="23877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F4350"/>
                </a:solidFill>
                <a:latin typeface="Public Sans" pitchFamily="34" charset="0"/>
                <a:ea typeface="Public Sans" pitchFamily="34" charset="-122"/>
                <a:cs typeface="Public Sans" pitchFamily="34" charset="-120"/>
              </a:rPr>
              <a:t>STEP 1</a:t>
            </a:r>
            <a:endParaRPr lang="en-US" sz="1200" dirty="0"/>
          </a:p>
        </p:txBody>
      </p:sp>
      <p:sp>
        <p:nvSpPr>
          <p:cNvPr id="11" name="Text 6"/>
          <p:cNvSpPr/>
          <p:nvPr/>
        </p:nvSpPr>
        <p:spPr>
          <a:xfrm>
            <a:off x="990534" y="2732705"/>
            <a:ext cx="2021139" cy="310896"/>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1755"/>
              </a:lnSpc>
              <a:buNone/>
            </a:pPr>
            <a:r>
              <a:rPr lang="en-US" sz="1800" dirty="0">
                <a:solidFill>
                  <a:srgbClr val="F6F0E6"/>
                </a:solidFill>
                <a:latin typeface="Public Sans" pitchFamily="34" charset="0"/>
                <a:ea typeface="Public Sans" pitchFamily="34" charset="-122"/>
                <a:cs typeface="Public Sans" pitchFamily="34" charset="-120"/>
              </a:rPr>
              <a:t>Choose content</a:t>
            </a:r>
            <a:endParaRPr lang="en-US" sz="1300" dirty="0"/>
          </a:p>
        </p:txBody>
      </p:sp>
      <p:pic>
        <p:nvPicPr>
          <p:cNvPr id="12" name="Image 3" descr="connector">    </p:cNvPr>
          <p:cNvPicPr>
            <a:picLocks noChangeAspect="1"/>
          </p:cNvPicPr>
          <p:nvPr/>
        </p:nvPicPr>
        <p:blipFill>
          <a:blip r:embed="rId4"/>
          <a:srcRect l="0" r="0" t="-8" b="-8"/>
          <a:stretch/>
        </p:blipFill>
        <p:spPr>
          <a:xfrm>
            <a:off x="3206750" y="2648536"/>
            <a:ext cx="279356" cy="127000"/>
          </a:xfrm>
          <a:prstGeom prst="rect">
            <a:avLst/>
          </a:prstGeom>
        </p:spPr>
      </p:pic>
      <p:sp>
        <p:nvSpPr>
          <p:cNvPr id="13" name="Shape 7"/>
          <p:cNvSpPr/>
          <p:nvPr/>
        </p:nvSpPr>
        <p:spPr>
          <a:xfrm>
            <a:off x="3562284" y="2316209"/>
            <a:ext cx="2317860" cy="791710"/>
          </a:xfrm>
          <a:prstGeom prst="roundRect">
            <a:avLst>
              <a:gd name="adj" fmla="val 9625"/>
            </a:avLst>
          </a:prstGeom>
          <a:solidFill>
            <a:srgbClr val="17120F"/>
          </a:solidFill>
          <a:ln/>
        </p:spPr>
        <p:txBody>
          <a:bodyPr/>
          <a:p/>
        </p:txBody>
      </p:sp>
      <p:sp>
        <p:nvSpPr>
          <p:cNvPr id="14" name="Text 8"/>
          <p:cNvSpPr/>
          <p:nvPr/>
        </p:nvSpPr>
        <p:spPr>
          <a:xfrm>
            <a:off x="3740050" y="2468563"/>
            <a:ext cx="2021196" cy="23877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F4350"/>
                </a:solidFill>
                <a:latin typeface="Public Sans" pitchFamily="34" charset="0"/>
                <a:ea typeface="Public Sans" pitchFamily="34" charset="-122"/>
                <a:cs typeface="Public Sans" pitchFamily="34" charset="-120"/>
              </a:rPr>
              <a:t>STEP 2</a:t>
            </a:r>
            <a:endParaRPr lang="en-US" sz="1200" dirty="0"/>
          </a:p>
        </p:txBody>
      </p:sp>
      <p:sp>
        <p:nvSpPr>
          <p:cNvPr id="15" name="Text 9"/>
          <p:cNvSpPr/>
          <p:nvPr/>
        </p:nvSpPr>
        <p:spPr>
          <a:xfrm>
            <a:off x="3740050" y="2732705"/>
            <a:ext cx="2021196" cy="310896"/>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1755"/>
              </a:lnSpc>
              <a:buNone/>
            </a:pPr>
            <a:r>
              <a:rPr lang="en-US" sz="1800" dirty="0">
                <a:solidFill>
                  <a:srgbClr val="F6F0E6"/>
                </a:solidFill>
                <a:latin typeface="Public Sans" pitchFamily="34" charset="0"/>
                <a:ea typeface="Public Sans" pitchFamily="34" charset="-122"/>
                <a:cs typeface="Public Sans" pitchFamily="34" charset="-120"/>
              </a:rPr>
              <a:t>Extract &amp; review</a:t>
            </a:r>
            <a:endParaRPr lang="en-US" sz="1300" dirty="0"/>
          </a:p>
        </p:txBody>
      </p:sp>
      <p:pic>
        <p:nvPicPr>
          <p:cNvPr id="16" name="Image 4" descr="connector">    </p:cNvPr>
          <p:cNvPicPr>
            <a:picLocks noChangeAspect="1"/>
          </p:cNvPicPr>
          <p:nvPr/>
        </p:nvPicPr>
        <p:blipFill>
          <a:blip r:embed="rId5"/>
          <a:srcRect l="0" r="0" t="-8" b="-8"/>
          <a:stretch/>
        </p:blipFill>
        <p:spPr>
          <a:xfrm>
            <a:off x="5956322" y="2648536"/>
            <a:ext cx="279356" cy="127000"/>
          </a:xfrm>
          <a:prstGeom prst="rect">
            <a:avLst/>
          </a:prstGeom>
        </p:spPr>
      </p:pic>
      <p:sp>
        <p:nvSpPr>
          <p:cNvPr id="17" name="Shape 10"/>
          <p:cNvSpPr/>
          <p:nvPr/>
        </p:nvSpPr>
        <p:spPr>
          <a:xfrm>
            <a:off x="6311855" y="2316209"/>
            <a:ext cx="2317805" cy="791710"/>
          </a:xfrm>
          <a:prstGeom prst="roundRect">
            <a:avLst>
              <a:gd name="adj" fmla="val 9625"/>
            </a:avLst>
          </a:prstGeom>
          <a:solidFill>
            <a:srgbClr val="17120F"/>
          </a:solidFill>
          <a:ln/>
        </p:spPr>
        <p:txBody>
          <a:bodyPr/>
          <a:p/>
        </p:txBody>
      </p:sp>
      <p:sp>
        <p:nvSpPr>
          <p:cNvPr id="18" name="Text 11"/>
          <p:cNvSpPr/>
          <p:nvPr/>
        </p:nvSpPr>
        <p:spPr>
          <a:xfrm>
            <a:off x="6489622" y="2468563"/>
            <a:ext cx="2021139" cy="23877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F4350"/>
                </a:solidFill>
                <a:latin typeface="Public Sans" pitchFamily="34" charset="0"/>
                <a:ea typeface="Public Sans" pitchFamily="34" charset="-122"/>
                <a:cs typeface="Public Sans" pitchFamily="34" charset="-120"/>
              </a:rPr>
              <a:t>STEP 3</a:t>
            </a:r>
            <a:endParaRPr lang="en-US" sz="1200" dirty="0"/>
          </a:p>
        </p:txBody>
      </p:sp>
      <p:sp>
        <p:nvSpPr>
          <p:cNvPr id="19" name="Text 12"/>
          <p:cNvSpPr/>
          <p:nvPr/>
        </p:nvSpPr>
        <p:spPr>
          <a:xfrm>
            <a:off x="6489622" y="2732705"/>
            <a:ext cx="2140038" cy="310896"/>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1755"/>
              </a:lnSpc>
              <a:buNone/>
            </a:pPr>
            <a:r>
              <a:rPr lang="en-US" sz="1800" dirty="0">
                <a:solidFill>
                  <a:srgbClr val="F6F0E6"/>
                </a:solidFill>
                <a:latin typeface="Public Sans" pitchFamily="34" charset="0"/>
                <a:ea typeface="Public Sans" pitchFamily="34" charset="-122"/>
                <a:cs typeface="Public Sans" pitchFamily="34" charset="-120"/>
              </a:rPr>
              <a:t>Analyze locally</a:t>
            </a:r>
            <a:endParaRPr lang="en-US" sz="1300" dirty="0"/>
          </a:p>
        </p:txBody>
      </p:sp>
      <p:pic>
        <p:nvPicPr>
          <p:cNvPr id="20" name="Image 5" descr="connector">    </p:cNvPr>
          <p:cNvPicPr>
            <a:picLocks noChangeAspect="1"/>
          </p:cNvPicPr>
          <p:nvPr/>
        </p:nvPicPr>
        <p:blipFill>
          <a:blip r:embed="rId6"/>
          <a:srcRect l="0" r="0" t="-8" b="-8"/>
          <a:stretch/>
        </p:blipFill>
        <p:spPr>
          <a:xfrm>
            <a:off x="8705838" y="2648536"/>
            <a:ext cx="279356" cy="127000"/>
          </a:xfrm>
          <a:prstGeom prst="rect">
            <a:avLst/>
          </a:prstGeom>
        </p:spPr>
      </p:pic>
      <p:sp>
        <p:nvSpPr>
          <p:cNvPr id="21" name="Shape 13"/>
          <p:cNvSpPr/>
          <p:nvPr/>
        </p:nvSpPr>
        <p:spPr>
          <a:xfrm>
            <a:off x="9061372" y="2316209"/>
            <a:ext cx="2317860" cy="791710"/>
          </a:xfrm>
          <a:prstGeom prst="roundRect">
            <a:avLst>
              <a:gd name="adj" fmla="val 9625"/>
            </a:avLst>
          </a:prstGeom>
          <a:solidFill>
            <a:srgbClr val="17120F"/>
          </a:solidFill>
          <a:ln/>
        </p:spPr>
        <p:txBody>
          <a:bodyPr/>
          <a:p/>
        </p:txBody>
      </p:sp>
      <p:sp>
        <p:nvSpPr>
          <p:cNvPr id="22" name="Text 14"/>
          <p:cNvSpPr/>
          <p:nvPr/>
        </p:nvSpPr>
        <p:spPr>
          <a:xfrm>
            <a:off x="9239139" y="2468563"/>
            <a:ext cx="2021196" cy="23877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F4350"/>
                </a:solidFill>
                <a:latin typeface="Public Sans" pitchFamily="34" charset="0"/>
                <a:ea typeface="Public Sans" pitchFamily="34" charset="-122"/>
                <a:cs typeface="Public Sans" pitchFamily="34" charset="-120"/>
              </a:rPr>
              <a:t>STEP 4</a:t>
            </a:r>
            <a:endParaRPr lang="en-US" sz="1200" dirty="0"/>
          </a:p>
        </p:txBody>
      </p:sp>
      <p:sp>
        <p:nvSpPr>
          <p:cNvPr id="23" name="Text 15"/>
          <p:cNvSpPr/>
          <p:nvPr/>
        </p:nvSpPr>
        <p:spPr>
          <a:xfrm>
            <a:off x="9239139" y="2732705"/>
            <a:ext cx="2021196" cy="310896"/>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1755"/>
              </a:lnSpc>
              <a:buNone/>
            </a:pPr>
            <a:r>
              <a:rPr lang="en-US" sz="1800" dirty="0">
                <a:solidFill>
                  <a:srgbClr val="F6F0E6"/>
                </a:solidFill>
                <a:latin typeface="Public Sans" pitchFamily="34" charset="0"/>
                <a:ea typeface="Public Sans" pitchFamily="34" charset="-122"/>
                <a:cs typeface="Public Sans" pitchFamily="34" charset="-120"/>
              </a:rPr>
              <a:t>Explain &amp; act</a:t>
            </a:r>
            <a:endParaRPr lang="en-US" sz="1300" dirty="0"/>
          </a:p>
        </p:txBody>
      </p:sp>
      <p:sp>
        <p:nvSpPr>
          <p:cNvPr id="24" name="Shape 16"/>
          <p:cNvSpPr/>
          <p:nvPr/>
        </p:nvSpPr>
        <p:spPr>
          <a:xfrm>
            <a:off x="822292" y="3295210"/>
            <a:ext cx="10547416" cy="2537266"/>
          </a:xfrm>
          <a:prstGeom prst="roundRect">
            <a:avLst>
              <a:gd name="adj" fmla="val 2628"/>
            </a:avLst>
          </a:prstGeom>
          <a:noFill/>
          <a:ln w="19050">
            <a:solidFill>
              <a:srgbClr val="B9AC9A"/>
            </a:solidFill>
            <a:prstDash val="dash"/>
          </a:ln>
        </p:spPr>
        <p:txBody>
          <a:bodyPr/>
          <a:p/>
        </p:txBody>
      </p:sp>
      <p:sp>
        <p:nvSpPr>
          <p:cNvPr id="27" name="Text 19"/>
          <p:cNvSpPr/>
          <p:nvPr/>
        </p:nvSpPr>
        <p:spPr>
          <a:xfrm>
            <a:off x="812767" y="6238270"/>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04A"/>
                </a:solidFill>
                <a:latin typeface="Public Sans" pitchFamily="34" charset="0"/>
                <a:ea typeface="Public Sans" pitchFamily="34" charset="-122"/>
                <a:cs typeface="Public Sans" pitchFamily="34" charset="-120"/>
              </a:rPr>
              <a:t>Code Carnival 3.0 · ADSC, Atmiya University</a:t>
            </a:r>
            <a:endParaRPr lang="en-US" sz="1200" dirty="0"/>
          </a:p>
        </p:txBody>
      </p:sp>
      <p:sp>
        <p:nvSpPr>
          <p:cNvPr id="28" name="Text 20"/>
          <p:cNvSpPr/>
          <p:nvPr/>
        </p:nvSpPr>
        <p:spPr>
          <a:xfrm>
            <a:off x="8108983" y="6238270"/>
            <a:ext cx="3270250" cy="238775"/>
          </a:xfrm>
          <a:prstGeom prst="rect">
            <a:avLst/>
          </a:prstGeom>
          <a:noFill/>
          <a:ln/>
        </p:spPr>
        <p:txBody>
          <a:bodyPr wrap="square" lIns="0" tIns="0" rIns="0" bIns="0" rtlCol="0" anchor="t">
            <a:normAutofit/>
          </a:bodyPr>
          <a:lstStyle/>
          <a:p>
            <a:pPr algn="r" indent="0" marL="0">
              <a:lnSpc>
                <a:spcPct val="110000"/>
              </a:lnSpc>
              <a:spcBef>
                <a:spcPts val="0"/>
              </a:spcBef>
              <a:spcAft>
                <a:spcPts val="0"/>
              </a:spcAft>
              <a:buNone/>
            </a:pPr>
            <a:pPr algn="r" indent="0" marL="0">
              <a:lnSpc>
                <a:spcPts val="1680"/>
              </a:lnSpc>
              <a:buNone/>
            </a:pPr>
            <a:r>
              <a:rPr lang="en-US" sz="1200" b="1" spc="100" kern="0" dirty="0">
                <a:solidFill>
                  <a:srgbClr val="C8102E"/>
                </a:solidFill>
                <a:latin typeface="Public Sans" pitchFamily="34" charset="0"/>
                <a:ea typeface="Public Sans" pitchFamily="34" charset="-122"/>
                <a:cs typeface="Public Sans" pitchFamily="34" charset="-120"/>
              </a:rPr>
              <a:t>Doclock</a:t>
            </a:r>
            <a:endParaRPr lang="en-US" sz="1200" dirty="0"/>
          </a:p>
        </p:txBody>
      </p:sp>
      <p:sp>
        <p:nvSpPr>
          <p:cNvPr id="29" name="Rounded Rectangle 28"/>
          <p:cNvSpPr/>
          <p:nvPr/>
        </p:nvSpPr>
        <p:spPr>
          <a:xfrm>
            <a:off x="1024128" y="3502152"/>
            <a:ext cx="2322576" cy="1399032"/>
          </a:xfrm>
          <a:prstGeom prst="roundRect">
            <a:avLst>
              <a:gd name="adj" fmla="val 5000"/>
            </a:avLst>
          </a:prstGeom>
          <a:solidFill>
            <a:srgbClr val="FFFFFF"/>
          </a:solidFill>
          <a:ln w="1270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61288" y="3657600"/>
            <a:ext cx="2048256" cy="320040"/>
          </a:xfrm>
          <a:prstGeom prst="rect">
            <a:avLst/>
          </a:prstGeom>
          <a:noFill/>
        </p:spPr>
        <p:txBody>
          <a:bodyPr wrap="square" lIns="0" rIns="0" tIns="0" bIns="0">
            <a:spAutoFit/>
          </a:bodyPr>
          <a:lstStyle/>
          <a:p>
            <a:pPr algn="l">
              <a:lnSpc>
                <a:spcPct val="108000"/>
              </a:lnSpc>
              <a:spcAft>
                <a:spcPts val="0"/>
              </a:spcAft>
            </a:pPr>
            <a:r>
              <a:rPr sz="1800" b="1">
                <a:solidFill>
                  <a:srgbClr val="C8102E"/>
                </a:solidFill>
                <a:latin typeface="Oswald"/>
              </a:rPr>
              <a:t>REVIEWED INPUT</a:t>
            </a:r>
          </a:p>
        </p:txBody>
      </p:sp>
      <p:sp>
        <p:nvSpPr>
          <p:cNvPr id="31" name="TextBox 30"/>
          <p:cNvSpPr txBox="1"/>
          <p:nvPr/>
        </p:nvSpPr>
        <p:spPr>
          <a:xfrm>
            <a:off x="1161288" y="4105656"/>
            <a:ext cx="2048256" cy="640080"/>
          </a:xfrm>
          <a:prstGeom prst="rect">
            <a:avLst/>
          </a:prstGeom>
          <a:noFill/>
        </p:spPr>
        <p:txBody>
          <a:bodyPr wrap="square" lIns="0" rIns="0" tIns="0" bIns="0">
            <a:spAutoFit/>
          </a:bodyPr>
          <a:lstStyle/>
          <a:p>
            <a:pPr algn="l">
              <a:lnSpc>
                <a:spcPct val="108000"/>
              </a:lnSpc>
              <a:spcAft>
                <a:spcPts val="0"/>
              </a:spcAft>
            </a:pPr>
            <a:r>
              <a:rPr sz="1800" b="0">
                <a:solidFill>
                  <a:srgbClr val="1E1917"/>
                </a:solidFill>
                <a:latin typeface="Public Sans"/>
              </a:rPr>
              <a:t>Text / links</a:t>
            </a:r>
          </a:p>
          <a:p>
            <a:pPr algn="l">
              <a:lnSpc>
                <a:spcPct val="108000"/>
              </a:lnSpc>
              <a:spcAft>
                <a:spcPts val="0"/>
              </a:spcAft>
            </a:pPr>
            <a:r>
              <a:rPr sz="1800" b="0">
                <a:solidFill>
                  <a:srgbClr val="1E1917"/>
                </a:solidFill>
                <a:latin typeface="Public Sans"/>
              </a:rPr>
              <a:t>Local OCR + QR</a:t>
            </a:r>
          </a:p>
        </p:txBody>
      </p:sp>
      <p:sp>
        <p:nvSpPr>
          <p:cNvPr id="32" name="Rounded Rectangle 31"/>
          <p:cNvSpPr/>
          <p:nvPr/>
        </p:nvSpPr>
        <p:spPr>
          <a:xfrm>
            <a:off x="3739896" y="3502152"/>
            <a:ext cx="4251960" cy="1399032"/>
          </a:xfrm>
          <a:prstGeom prst="roundRect">
            <a:avLst>
              <a:gd name="adj" fmla="val 5000"/>
            </a:avLst>
          </a:prstGeom>
          <a:solidFill>
            <a:srgbClr val="FFFFFF"/>
          </a:solidFill>
          <a:ln w="1270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77056" y="3657600"/>
            <a:ext cx="3977640" cy="320040"/>
          </a:xfrm>
          <a:prstGeom prst="rect">
            <a:avLst/>
          </a:prstGeom>
          <a:noFill/>
        </p:spPr>
        <p:txBody>
          <a:bodyPr wrap="square" lIns="0" rIns="0" tIns="0" bIns="0">
            <a:spAutoFit/>
          </a:bodyPr>
          <a:lstStyle/>
          <a:p>
            <a:pPr algn="l">
              <a:lnSpc>
                <a:spcPct val="108000"/>
              </a:lnSpc>
              <a:spcAft>
                <a:spcPts val="0"/>
              </a:spcAft>
            </a:pPr>
            <a:r>
              <a:rPr sz="1800" b="1">
                <a:solidFill>
                  <a:srgbClr val="C8102E"/>
                </a:solidFill>
                <a:latin typeface="Oswald"/>
              </a:rPr>
              <a:t>LOCAL SECURITY ENGINE</a:t>
            </a:r>
          </a:p>
        </p:txBody>
      </p:sp>
      <p:sp>
        <p:nvSpPr>
          <p:cNvPr id="34" name="TextBox 33"/>
          <p:cNvSpPr txBox="1"/>
          <p:nvPr/>
        </p:nvSpPr>
        <p:spPr>
          <a:xfrm>
            <a:off x="3877056" y="4105656"/>
            <a:ext cx="3977640" cy="640080"/>
          </a:xfrm>
          <a:prstGeom prst="rect">
            <a:avLst/>
          </a:prstGeom>
          <a:noFill/>
        </p:spPr>
        <p:txBody>
          <a:bodyPr wrap="square" lIns="0" rIns="0" tIns="0" bIns="0">
            <a:spAutoFit/>
          </a:bodyPr>
          <a:lstStyle/>
          <a:p>
            <a:pPr algn="l">
              <a:lnSpc>
                <a:spcPct val="108000"/>
              </a:lnSpc>
              <a:spcAft>
                <a:spcPts val="0"/>
              </a:spcAft>
            </a:pPr>
            <a:r>
              <a:rPr sz="1800" b="0">
                <a:solidFill>
                  <a:srgbClr val="1E1917"/>
                </a:solidFill>
                <a:latin typeface="Public Sans"/>
              </a:rPr>
              <a:t>Text + URL models; rules</a:t>
            </a:r>
          </a:p>
          <a:p>
            <a:pPr algn="l">
              <a:lnSpc>
                <a:spcPct val="108000"/>
              </a:lnSpc>
              <a:spcAft>
                <a:spcPts val="0"/>
              </a:spcAft>
            </a:pPr>
            <a:r>
              <a:rPr sz="1800" b="0">
                <a:solidFill>
                  <a:srgbClr val="1E1917"/>
                </a:solidFill>
                <a:latin typeface="Public Sans"/>
              </a:rPr>
              <a:t>Browser context; story clues</a:t>
            </a:r>
          </a:p>
        </p:txBody>
      </p:sp>
      <p:sp>
        <p:nvSpPr>
          <p:cNvPr id="35" name="Rounded Rectangle 34"/>
          <p:cNvSpPr/>
          <p:nvPr/>
        </p:nvSpPr>
        <p:spPr>
          <a:xfrm>
            <a:off x="8385048" y="3502152"/>
            <a:ext cx="2734056" cy="1399032"/>
          </a:xfrm>
          <a:prstGeom prst="roundRect">
            <a:avLst>
              <a:gd name="adj" fmla="val 5000"/>
            </a:avLst>
          </a:prstGeom>
          <a:solidFill>
            <a:srgbClr val="FFFFFF"/>
          </a:solidFill>
          <a:ln w="1270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22208" y="3657600"/>
            <a:ext cx="2459736" cy="320040"/>
          </a:xfrm>
          <a:prstGeom prst="rect">
            <a:avLst/>
          </a:prstGeom>
          <a:noFill/>
        </p:spPr>
        <p:txBody>
          <a:bodyPr wrap="square" lIns="0" rIns="0" tIns="0" bIns="0">
            <a:spAutoFit/>
          </a:bodyPr>
          <a:lstStyle/>
          <a:p>
            <a:pPr algn="l">
              <a:lnSpc>
                <a:spcPct val="108000"/>
              </a:lnSpc>
              <a:spcAft>
                <a:spcPts val="0"/>
              </a:spcAft>
            </a:pPr>
            <a:r>
              <a:rPr sz="1800" b="1">
                <a:solidFill>
                  <a:srgbClr val="C8102E"/>
                </a:solidFill>
                <a:latin typeface="Oswald"/>
              </a:rPr>
              <a:t>USER OUTPUT</a:t>
            </a:r>
          </a:p>
        </p:txBody>
      </p:sp>
      <p:sp>
        <p:nvSpPr>
          <p:cNvPr id="37" name="TextBox 36"/>
          <p:cNvSpPr txBox="1"/>
          <p:nvPr/>
        </p:nvSpPr>
        <p:spPr>
          <a:xfrm>
            <a:off x="8522208" y="4105656"/>
            <a:ext cx="2459736" cy="640080"/>
          </a:xfrm>
          <a:prstGeom prst="rect">
            <a:avLst/>
          </a:prstGeom>
          <a:noFill/>
        </p:spPr>
        <p:txBody>
          <a:bodyPr wrap="square" lIns="0" rIns="0" tIns="0" bIns="0">
            <a:spAutoFit/>
          </a:bodyPr>
          <a:lstStyle/>
          <a:p>
            <a:pPr algn="l">
              <a:lnSpc>
                <a:spcPct val="108000"/>
              </a:lnSpc>
              <a:spcAft>
                <a:spcPts val="0"/>
              </a:spcAft>
            </a:pPr>
            <a:r>
              <a:rPr sz="1800" b="0">
                <a:solidFill>
                  <a:srgbClr val="1E1917"/>
                </a:solidFill>
                <a:latin typeface="Public Sans"/>
              </a:rPr>
              <a:t>Warning + reasons</a:t>
            </a:r>
          </a:p>
          <a:p>
            <a:pPr algn="l">
              <a:lnSpc>
                <a:spcPct val="108000"/>
              </a:lnSpc>
              <a:spcAft>
                <a:spcPts val="0"/>
              </a:spcAft>
            </a:pPr>
            <a:r>
              <a:rPr sz="1800" b="0">
                <a:solidFill>
                  <a:srgbClr val="1E1917"/>
                </a:solidFill>
                <a:latin typeface="Public Sans"/>
              </a:rPr>
              <a:t>Next-step guidance</a:t>
            </a:r>
          </a:p>
        </p:txBody>
      </p:sp>
      <p:sp>
        <p:nvSpPr>
          <p:cNvPr id="38" name="Right Arrow 37"/>
          <p:cNvSpPr/>
          <p:nvPr/>
        </p:nvSpPr>
        <p:spPr>
          <a:xfrm>
            <a:off x="3401568" y="4142232"/>
            <a:ext cx="228600" cy="146304"/>
          </a:xfrm>
          <a:prstGeom prst="rightArrow">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ight Arrow 38"/>
          <p:cNvSpPr/>
          <p:nvPr/>
        </p:nvSpPr>
        <p:spPr>
          <a:xfrm>
            <a:off x="8092440" y="4142232"/>
            <a:ext cx="228600" cy="146304"/>
          </a:xfrm>
          <a:prstGeom prst="rightArrow">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1" y="5001768"/>
            <a:ext cx="10021824" cy="365760"/>
          </a:xfrm>
          <a:prstGeom prst="rect">
            <a:avLst/>
          </a:prstGeom>
          <a:noFill/>
        </p:spPr>
        <p:txBody>
          <a:bodyPr wrap="square" lIns="0" rIns="0" tIns="0" bIns="0">
            <a:spAutoFit/>
          </a:bodyPr>
          <a:lstStyle/>
          <a:p>
            <a:pPr algn="l">
              <a:lnSpc>
                <a:spcPct val="108000"/>
              </a:lnSpc>
              <a:spcAft>
                <a:spcPts val="0"/>
              </a:spcAft>
            </a:pPr>
            <a:r>
              <a:rPr sz="1800" b="1">
                <a:solidFill>
                  <a:srgbClr val="C8102E"/>
                </a:solidFill>
                <a:latin typeface="Public Sans"/>
              </a:rPr>
              <a:t>Authored story: balance promise → release payment → connected warning</a:t>
            </a:r>
          </a:p>
        </p:txBody>
      </p:sp>
      <p:sp>
        <p:nvSpPr>
          <p:cNvPr id="41" name="TextBox 40"/>
          <p:cNvSpPr txBox="1"/>
          <p:nvPr/>
        </p:nvSpPr>
        <p:spPr>
          <a:xfrm>
            <a:off x="1033271" y="5440680"/>
            <a:ext cx="10021824" cy="320040"/>
          </a:xfrm>
          <a:prstGeom prst="rect">
            <a:avLst/>
          </a:prstGeom>
          <a:noFill/>
        </p:spPr>
        <p:txBody>
          <a:bodyPr wrap="square" lIns="0" rIns="0" tIns="0" bIns="0">
            <a:spAutoFit/>
          </a:bodyPr>
          <a:lstStyle/>
          <a:p>
            <a:pPr algn="l">
              <a:lnSpc>
                <a:spcPct val="108000"/>
              </a:lnSpc>
              <a:spcAft>
                <a:spcPts val="0"/>
              </a:spcAft>
            </a:pPr>
            <a:r>
              <a:rPr sz="1800" b="0">
                <a:solidFill>
                  <a:srgbClr val="5A504A"/>
                </a:solidFill>
                <a:latin typeface="Public Sans"/>
              </a:rPr>
              <a:t>Original passages support the finding; the user reviews every case item.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0E6"/>
        </a:solidFill>
      </p:bgPr>
    </p:bg>
    <p:spTree>
      <p:nvGrpSpPr>
        <p:cNvPr id="1" name=""/>
        <p:cNvGrpSpPr/>
        <p:nvPr/>
      </p:nvGrpSpPr>
      <p:grpSpPr>
        <a:xfrm>
          <a:off x="0" y="0"/>
          <a:ext cx="0" cy="0"/>
          <a:chOff x="0" y="0"/>
          <a:chExt cx="0" cy="0"/>
        </a:xfrm>
      </p:grpSpPr>
      <p:pic>
        <p:nvPicPr>
          <p:cNvPr id="2" name="Image 0" descr="Atmiya University logo">    </p:cNvPr>
          <p:cNvPicPr>
            <a:picLocks noChangeAspect="1"/>
          </p:cNvPicPr>
          <p:nvPr/>
        </p:nvPicPr>
        <p:blipFill>
          <a:blip r:embed="rId1"/>
          <a:srcRect l="0" r="0" t="-43" b="-43"/>
          <a:stretch/>
        </p:blipFill>
        <p:spPr>
          <a:xfrm>
            <a:off x="812767" y="330178"/>
            <a:ext cx="1428750" cy="406356"/>
          </a:xfrm>
          <a:prstGeom prst="rect">
            <a:avLst/>
          </a:prstGeom>
        </p:spPr>
      </p:pic>
      <p:pic>
        <p:nvPicPr>
          <p:cNvPr id="3" name="Image 1" descr="Centre for Research, Innovation and Translation logo">    </p:cNvPr>
          <p:cNvPicPr>
            <a:picLocks noChangeAspect="1"/>
          </p:cNvPicPr>
          <p:nvPr/>
        </p:nvPicPr>
        <p:blipFill>
          <a:blip r:embed="rId2"/>
          <a:srcRect l="-420" r="-420" t="0" b="0"/>
          <a:stretch/>
        </p:blipFill>
        <p:spPr>
          <a:xfrm>
            <a:off x="9467948" y="304769"/>
            <a:ext cx="457178" cy="457178"/>
          </a:xfrm>
          <a:prstGeom prst="rect">
            <a:avLst/>
          </a:prstGeom>
        </p:spPr>
      </p:pic>
      <p:pic>
        <p:nvPicPr>
          <p:cNvPr id="4" name="Image 2" descr="ADSC logo">    </p:cNvPr>
          <p:cNvPicPr>
            <a:picLocks noChangeAspect="1"/>
          </p:cNvPicPr>
          <p:nvPr/>
        </p:nvPicPr>
        <p:blipFill>
          <a:blip r:embed="rId3"/>
          <a:srcRect l="0" r="0" t="-111" b="-111"/>
          <a:stretch/>
        </p:blipFill>
        <p:spPr>
          <a:xfrm>
            <a:off x="10128304" y="393678"/>
            <a:ext cx="1250928" cy="279356"/>
          </a:xfrm>
          <a:prstGeom prst="rect">
            <a:avLst/>
          </a:prstGeom>
        </p:spPr>
      </p:pic>
      <p:sp>
        <p:nvSpPr>
          <p:cNvPr id="5" name="Shape 0"/>
          <p:cNvSpPr/>
          <p:nvPr/>
        </p:nvSpPr>
        <p:spPr>
          <a:xfrm>
            <a:off x="812767" y="939713"/>
            <a:ext cx="10566466" cy="25356"/>
          </a:xfrm>
          <a:prstGeom prst="rect">
            <a:avLst/>
          </a:prstGeom>
          <a:solidFill>
            <a:srgbClr val="C8102E"/>
          </a:solidFill>
          <a:ln/>
        </p:spPr>
        <p:txBody>
          <a:bodyPr/>
          <a:p/>
        </p:txBody>
      </p:sp>
      <p:sp>
        <p:nvSpPr>
          <p:cNvPr id="6" name="Text 1"/>
          <p:cNvSpPr/>
          <p:nvPr/>
        </p:nvSpPr>
        <p:spPr>
          <a:xfrm>
            <a:off x="812767" y="1142836"/>
            <a:ext cx="10883460" cy="238775"/>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8102E"/>
                </a:solidFill>
                <a:latin typeface="Public Sans" pitchFamily="34" charset="0"/>
                <a:ea typeface="Public Sans" pitchFamily="34" charset="-122"/>
                <a:cs typeface="Public Sans" pitchFamily="34" charset="-120"/>
              </a:rPr>
              <a:t>05 · THE GEAR</a:t>
            </a:r>
            <a:endParaRPr lang="en-US" sz="1200" dirty="0"/>
          </a:p>
        </p:txBody>
      </p:sp>
      <p:sp>
        <p:nvSpPr>
          <p:cNvPr id="7" name="Text 2"/>
          <p:cNvSpPr/>
          <p:nvPr>
            <p:ph type="title"/>
          </p:nvPr>
        </p:nvSpPr>
        <p:spPr>
          <a:xfrm>
            <a:off x="812767" y="1406978"/>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1917"/>
                </a:solidFill>
                <a:latin typeface="Oswald" pitchFamily="34" charset="0"/>
                <a:ea typeface="Oswald" pitchFamily="34" charset="-122"/>
                <a:cs typeface="Oswald" pitchFamily="34" charset="-120"/>
              </a:rPr>
              <a:t>TECHNOLOGY / TECH STACK</a:t>
            </a:r>
            <a:endParaRPr lang="en-US" sz="3200" dirty="0"/>
          </a:p>
        </p:txBody>
      </p:sp>
      <p:sp>
        <p:nvSpPr>
          <p:cNvPr id="9" name="Shape 4"/>
          <p:cNvSpPr/>
          <p:nvPr/>
        </p:nvSpPr>
        <p:spPr>
          <a:xfrm>
            <a:off x="812767" y="2316206"/>
            <a:ext cx="10566466" cy="3072384"/>
          </a:xfrm>
          <a:prstGeom prst="rect">
            <a:avLst/>
          </a:prstGeom>
          <a:solidFill>
            <a:srgbClr val="FFFDF8"/>
          </a:solidFill>
          <a:ln/>
        </p:spPr>
        <p:txBody>
          <a:bodyPr/>
          <a:p/>
        </p:txBody>
      </p:sp>
      <p:sp>
        <p:nvSpPr>
          <p:cNvPr id="10" name="Shape 5"/>
          <p:cNvSpPr/>
          <p:nvPr/>
        </p:nvSpPr>
        <p:spPr>
          <a:xfrm>
            <a:off x="11376058" y="2316206"/>
            <a:ext cx="0" cy="3072384"/>
          </a:xfrm>
          <a:prstGeom prst="line">
            <a:avLst/>
          </a:prstGeom>
          <a:noFill/>
          <a:ln w="6350">
            <a:solidFill>
              <a:srgbClr val="E2D8C8"/>
            </a:solidFill>
            <a:prstDash val="solid"/>
          </a:ln>
        </p:spPr>
        <p:txBody>
          <a:bodyPr/>
          <a:p/>
        </p:txBody>
      </p:sp>
      <p:sp>
        <p:nvSpPr>
          <p:cNvPr id="11" name="Shape 6"/>
          <p:cNvSpPr/>
          <p:nvPr/>
        </p:nvSpPr>
        <p:spPr>
          <a:xfrm>
            <a:off x="812767" y="5385816"/>
            <a:ext cx="10566466" cy="0"/>
          </a:xfrm>
          <a:prstGeom prst="line">
            <a:avLst/>
          </a:prstGeom>
          <a:noFill/>
          <a:ln w="6350">
            <a:solidFill>
              <a:srgbClr val="E2D8C8"/>
            </a:solidFill>
            <a:prstDash val="solid"/>
          </a:ln>
        </p:spPr>
        <p:txBody>
          <a:bodyPr/>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3350" y="2326789"/>
          <a:ext cx="10552355" cy="3072384"/>
        </p:xfrm>
        <a:graphic>
          <a:graphicData uri="http://schemas.openxmlformats.org/drawingml/2006/table">
            <a:tbl>
              <a:tblPr/>
              <a:tblGrid>
                <a:gridCol w="2321518"/>
                <a:gridCol w="3482277"/>
                <a:gridCol w="4748560"/>
              </a:tblGrid>
              <a:tr h="438912">
                <a:tc>
                  <a:txBody>
                    <a:bodyPr wrap="square"/>
                    <a:lstStyle/>
                    <a:p>
                      <a:pPr indent="0" marL="0">
                        <a:lnSpc>
                          <a:spcPct val="105000"/>
                        </a:lnSpc>
                        <a:spcBef>
                          <a:spcPts val="0"/>
                        </a:spcBef>
                        <a:spcAft>
                          <a:spcPts val="0"/>
                        </a:spcAft>
                        <a:buNone/>
                      </a:pPr>
                      <a:r>
                        <a:rPr lang="en-US" sz="1800" b="1" dirty="0">
                          <a:solidFill>
                            <a:srgbClr val="F6F0E6"/>
                          </a:solidFill>
                          <a:latin typeface="Public Sans" pitchFamily="34" charset="0"/>
                          <a:ea typeface="Public Sans" pitchFamily="34" charset="-122"/>
                          <a:cs typeface="Public Sans" pitchFamily="34" charset="-120"/>
                        </a:rPr>
                        <a:t>Layer</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16121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61210"/>
                      </a:solidFill>
                      <a:prstDash val="solid"/>
                      <a:round/>
                      <a:headEnd type="none" w="med" len="med"/>
                      <a:tailEnd type="none" w="med" len="med"/>
                    </a:lnB>
                    <a:solidFill>
                      <a:srgbClr val="17120F"/>
                    </a:solidFill>
                  </a:tcPr>
                </a:tc>
                <a:tc>
                  <a:txBody>
                    <a:bodyPr wrap="square"/>
                    <a:lstStyle/>
                    <a:p>
                      <a:pPr indent="0" marL="0">
                        <a:lnSpc>
                          <a:spcPct val="105000"/>
                        </a:lnSpc>
                        <a:spcBef>
                          <a:spcPts val="0"/>
                        </a:spcBef>
                        <a:spcAft>
                          <a:spcPts val="0"/>
                        </a:spcAft>
                        <a:buNone/>
                      </a:pPr>
                      <a:r>
                        <a:rPr lang="en-US" sz="1800" b="1" dirty="0">
                          <a:solidFill>
                            <a:srgbClr val="F6F0E6"/>
                          </a:solidFill>
                          <a:latin typeface="Public Sans" pitchFamily="34" charset="0"/>
                          <a:ea typeface="Public Sans" pitchFamily="34" charset="-122"/>
                          <a:cs typeface="Public Sans" pitchFamily="34" charset="-120"/>
                        </a:rPr>
                        <a:t>Technology</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161210"/>
                      </a:solidFill>
                      <a:prstDash val="solid"/>
                      <a:round/>
                      <a:headEnd type="none" w="med" len="med"/>
                      <a:tailEnd type="none" w="med" len="med"/>
                    </a:lnL>
                    <a:lnR w="12700" cap="flat" cmpd="sng" algn="ctr">
                      <a:solidFill>
                        <a:srgbClr val="16121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61210"/>
                      </a:solidFill>
                      <a:prstDash val="solid"/>
                      <a:round/>
                      <a:headEnd type="none" w="med" len="med"/>
                      <a:tailEnd type="none" w="med" len="med"/>
                    </a:lnB>
                    <a:solidFill>
                      <a:srgbClr val="17120F"/>
                    </a:solidFill>
                  </a:tcPr>
                </a:tc>
                <a:tc>
                  <a:txBody>
                    <a:bodyPr wrap="square"/>
                    <a:lstStyle/>
                    <a:p>
                      <a:pPr indent="0" marL="0">
                        <a:lnSpc>
                          <a:spcPct val="105000"/>
                        </a:lnSpc>
                        <a:spcBef>
                          <a:spcPts val="0"/>
                        </a:spcBef>
                        <a:spcAft>
                          <a:spcPts val="0"/>
                        </a:spcAft>
                        <a:buNone/>
                      </a:pPr>
                      <a:r>
                        <a:rPr lang="en-US" sz="1800" b="1" dirty="0">
                          <a:solidFill>
                            <a:srgbClr val="F6F0E6"/>
                          </a:solidFill>
                          <a:latin typeface="Public Sans" pitchFamily="34" charset="0"/>
                          <a:ea typeface="Public Sans" pitchFamily="34" charset="-122"/>
                          <a:cs typeface="Public Sans" pitchFamily="34" charset="-120"/>
                        </a:rPr>
                        <a:t>Why we chose it</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161210"/>
                      </a:solidFill>
                      <a:prstDash val="solid"/>
                      <a:round/>
                      <a:headEnd type="none" w="med" len="med"/>
                      <a:tailEnd type="none" w="med" len="med"/>
                    </a:lnL>
                    <a:lnR w="12700" cap="flat" cmpd="sng" algn="ctr">
                      <a:solidFill>
                        <a:srgbClr val="16121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61210"/>
                      </a:solidFill>
                      <a:prstDash val="solid"/>
                      <a:round/>
                      <a:headEnd type="none" w="med" len="med"/>
                      <a:tailEnd type="none" w="med" len="med"/>
                    </a:lnB>
                    <a:solidFill>
                      <a:srgbClr val="17120F"/>
                    </a:solidFill>
                  </a:tcPr>
                </a:tc>
              </a:tr>
              <a:tr h="438912">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Frontend</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61210"/>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Kotlin / Compose; TypeScript</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61210"/>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Native app + browser interface</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61210"/>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438912">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Runtime</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Android + Chrome MV3</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On-device inference; no cloud backend</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438912">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Storage</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Room; AES-GCM; Chrome local</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History, encrypted cases, reports</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438912">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AI / recognition</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Logistic model; LiteRT; OCR</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Offline text, URL, image checks</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438912">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Hosting</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Public static demo website</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Shareable jury fixtures and guide</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438912">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Build / testing</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Gradle; Python; Playwright</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wrap="square"/>
                    <a:lstStyle/>
                    <a:p>
                      <a:pPr indent="0" marL="0">
                        <a:lnSpc>
                          <a:spcPct val="105000"/>
                        </a:lnSpc>
                        <a:spcBef>
                          <a:spcPts val="0"/>
                        </a:spcBef>
                        <a:spcAft>
                          <a:spcPts val="0"/>
                        </a:spcAft>
                        <a:buNone/>
                      </a:pPr>
                      <a:r>
                        <a:rPr lang="en-US" sz="1800" dirty="0">
                          <a:solidFill>
                            <a:srgbClr val="1E1917"/>
                          </a:solidFill>
                          <a:latin typeface="Public Sans" pitchFamily="34" charset="0"/>
                          <a:ea typeface="Public Sans" pitchFamily="34" charset="-122"/>
                          <a:cs typeface="Public Sans" pitchFamily="34" charset="-120"/>
                        </a:rPr>
                        <a:t>Reproducible builds and validation</a:t>
                      </a:r>
                      <a:endParaRPr lang="en-US" sz="1400" dirty="0">
                        <a:latin typeface="Public Sans" charset="0"/>
                        <a:ea typeface="Public Sans" charset="0"/>
                        <a:cs typeface="Public Sans" charset="0"/>
                      </a:endParaRPr>
                    </a:p>
                  </a:txBody>
                  <a:tcPr marL="62230" marR="62230" marT="62230" marB="62230" anchor="ctr">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13" name="Text 7"/>
          <p:cNvSpPr/>
          <p:nvPr/>
        </p:nvSpPr>
        <p:spPr>
          <a:xfrm>
            <a:off x="812767" y="6238270"/>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04A"/>
                </a:solidFill>
                <a:latin typeface="Public Sans" pitchFamily="34" charset="0"/>
                <a:ea typeface="Public Sans" pitchFamily="34" charset="-122"/>
                <a:cs typeface="Public Sans" pitchFamily="34" charset="-120"/>
              </a:rPr>
              <a:t>Code Carnival 3.0 · ADSC, Atmiya University</a:t>
            </a:r>
            <a:endParaRPr lang="en-US" sz="1200" dirty="0"/>
          </a:p>
        </p:txBody>
      </p:sp>
      <p:sp>
        <p:nvSpPr>
          <p:cNvPr id="14" name="Text 8"/>
          <p:cNvSpPr/>
          <p:nvPr/>
        </p:nvSpPr>
        <p:spPr>
          <a:xfrm>
            <a:off x="8108983" y="6238270"/>
            <a:ext cx="3270250" cy="238775"/>
          </a:xfrm>
          <a:prstGeom prst="rect">
            <a:avLst/>
          </a:prstGeom>
          <a:noFill/>
          <a:ln/>
        </p:spPr>
        <p:txBody>
          <a:bodyPr wrap="square" lIns="0" tIns="0" rIns="0" bIns="0" rtlCol="0" anchor="t">
            <a:normAutofit/>
          </a:bodyPr>
          <a:lstStyle/>
          <a:p>
            <a:pPr algn="r" indent="0" marL="0">
              <a:lnSpc>
                <a:spcPct val="110000"/>
              </a:lnSpc>
              <a:spcBef>
                <a:spcPts val="0"/>
              </a:spcBef>
              <a:spcAft>
                <a:spcPts val="0"/>
              </a:spcAft>
              <a:buNone/>
            </a:pPr>
            <a:pPr algn="r" indent="0" marL="0">
              <a:lnSpc>
                <a:spcPts val="1680"/>
              </a:lnSpc>
              <a:buNone/>
            </a:pPr>
            <a:r>
              <a:rPr lang="en-US" sz="1200" b="1" spc="100" kern="0" dirty="0">
                <a:solidFill>
                  <a:srgbClr val="C8102E"/>
                </a:solidFill>
                <a:latin typeface="Public Sans" pitchFamily="34" charset="0"/>
                <a:ea typeface="Public Sans" pitchFamily="34" charset="-122"/>
                <a:cs typeface="Public Sans" pitchFamily="34" charset="-120"/>
              </a:rPr>
              <a:t>Doclock</a:t>
            </a:r>
            <a:endParaRPr lang="en-US" sz="1200" dirty="0"/>
          </a:p>
        </p:txBody>
      </p:sp>
      <p:sp>
        <p:nvSpPr>
          <p:cNvPr id="15" name="TextBox 14"/>
          <p:cNvSpPr txBox="1"/>
          <p:nvPr/>
        </p:nvSpPr>
        <p:spPr>
          <a:xfrm>
            <a:off x="932688" y="5577840"/>
            <a:ext cx="10222992" cy="365760"/>
          </a:xfrm>
          <a:prstGeom prst="rect">
            <a:avLst/>
          </a:prstGeom>
          <a:noFill/>
        </p:spPr>
        <p:txBody>
          <a:bodyPr wrap="square" lIns="0" rIns="0" tIns="0" bIns="0">
            <a:spAutoFit/>
          </a:bodyPr>
          <a:lstStyle/>
          <a:p>
            <a:pPr algn="l">
              <a:lnSpc>
                <a:spcPct val="108000"/>
              </a:lnSpc>
              <a:spcAft>
                <a:spcPts val="0"/>
              </a:spcAft>
            </a:pPr>
            <a:r>
              <a:rPr sz="1800" b="0">
                <a:solidFill>
                  <a:srgbClr val="5A504A"/>
                </a:solidFill>
                <a:latin typeface="Public Sans"/>
              </a:rPr>
              <a:t>Bundled models and OCR/QR assets; no cloud inference API.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0E6"/>
        </a:solidFill>
      </p:bgPr>
    </p:bg>
    <p:spTree>
      <p:nvGrpSpPr>
        <p:cNvPr id="1" name=""/>
        <p:cNvGrpSpPr/>
        <p:nvPr/>
      </p:nvGrpSpPr>
      <p:grpSpPr>
        <a:xfrm>
          <a:off x="0" y="0"/>
          <a:ext cx="0" cy="0"/>
          <a:chOff x="0" y="0"/>
          <a:chExt cx="0" cy="0"/>
        </a:xfrm>
      </p:grpSpPr>
      <p:pic>
        <p:nvPicPr>
          <p:cNvPr id="2" name="Image 0" descr="Atmiya University logo">    </p:cNvPr>
          <p:cNvPicPr>
            <a:picLocks noChangeAspect="1"/>
          </p:cNvPicPr>
          <p:nvPr/>
        </p:nvPicPr>
        <p:blipFill>
          <a:blip r:embed="rId1"/>
          <a:srcRect l="0" r="0" t="-43" b="-43"/>
          <a:stretch/>
        </p:blipFill>
        <p:spPr>
          <a:xfrm>
            <a:off x="812767" y="330178"/>
            <a:ext cx="1428750" cy="406356"/>
          </a:xfrm>
          <a:prstGeom prst="rect">
            <a:avLst/>
          </a:prstGeom>
        </p:spPr>
      </p:pic>
      <p:pic>
        <p:nvPicPr>
          <p:cNvPr id="3" name="Image 1" descr="Centre for Research, Innovation and Translation logo">    </p:cNvPr>
          <p:cNvPicPr>
            <a:picLocks noChangeAspect="1"/>
          </p:cNvPicPr>
          <p:nvPr/>
        </p:nvPicPr>
        <p:blipFill>
          <a:blip r:embed="rId2"/>
          <a:srcRect l="-420" r="-420" t="0" b="0"/>
          <a:stretch/>
        </p:blipFill>
        <p:spPr>
          <a:xfrm>
            <a:off x="9467948" y="304766"/>
            <a:ext cx="457178" cy="457178"/>
          </a:xfrm>
          <a:prstGeom prst="rect">
            <a:avLst/>
          </a:prstGeom>
        </p:spPr>
      </p:pic>
      <p:pic>
        <p:nvPicPr>
          <p:cNvPr id="4" name="Image 2" descr="ADSC logo">    </p:cNvPr>
          <p:cNvPicPr>
            <a:picLocks noChangeAspect="1"/>
          </p:cNvPicPr>
          <p:nvPr/>
        </p:nvPicPr>
        <p:blipFill>
          <a:blip r:embed="rId3"/>
          <a:srcRect l="0" r="0" t="-111" b="-111"/>
          <a:stretch/>
        </p:blipFill>
        <p:spPr>
          <a:xfrm>
            <a:off x="10128304" y="393678"/>
            <a:ext cx="1250928" cy="279356"/>
          </a:xfrm>
          <a:prstGeom prst="rect">
            <a:avLst/>
          </a:prstGeom>
        </p:spPr>
      </p:pic>
      <p:sp>
        <p:nvSpPr>
          <p:cNvPr id="5" name="Shape 0"/>
          <p:cNvSpPr/>
          <p:nvPr/>
        </p:nvSpPr>
        <p:spPr>
          <a:xfrm>
            <a:off x="812767" y="939713"/>
            <a:ext cx="10566466" cy="25356"/>
          </a:xfrm>
          <a:prstGeom prst="rect">
            <a:avLst/>
          </a:prstGeom>
          <a:solidFill>
            <a:srgbClr val="C8102E"/>
          </a:solidFill>
          <a:ln/>
        </p:spPr>
        <p:txBody>
          <a:bodyPr/>
          <a:p/>
        </p:txBody>
      </p:sp>
      <p:sp>
        <p:nvSpPr>
          <p:cNvPr id="6" name="Text 1"/>
          <p:cNvSpPr/>
          <p:nvPr/>
        </p:nvSpPr>
        <p:spPr>
          <a:xfrm>
            <a:off x="812767" y="1142836"/>
            <a:ext cx="10883460" cy="238775"/>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8102E"/>
                </a:solidFill>
                <a:latin typeface="Public Sans" pitchFamily="34" charset="0"/>
                <a:ea typeface="Public Sans" pitchFamily="34" charset="-122"/>
                <a:cs typeface="Public Sans" pitchFamily="34" charset="-120"/>
              </a:rPr>
              <a:t>06 · INSIDE THE MINT</a:t>
            </a:r>
            <a:endParaRPr lang="en-US" sz="1200" dirty="0"/>
          </a:p>
        </p:txBody>
      </p:sp>
      <p:sp>
        <p:nvSpPr>
          <p:cNvPr id="7" name="Text 2"/>
          <p:cNvSpPr/>
          <p:nvPr>
            <p:ph type="title"/>
          </p:nvPr>
        </p:nvSpPr>
        <p:spPr>
          <a:xfrm>
            <a:off x="812767" y="1406978"/>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1917"/>
                </a:solidFill>
                <a:latin typeface="Oswald" pitchFamily="34" charset="0"/>
                <a:ea typeface="Oswald" pitchFamily="34" charset="-122"/>
                <a:cs typeface="Oswald" pitchFamily="34" charset="-120"/>
              </a:rPr>
              <a:t>CURRENT PROGRESS / WORK DONE</a:t>
            </a:r>
            <a:endParaRPr lang="en-US" sz="3200" dirty="0"/>
          </a:p>
        </p:txBody>
      </p:sp>
      <p:sp>
        <p:nvSpPr>
          <p:cNvPr id="9" name="Shape 4"/>
          <p:cNvSpPr/>
          <p:nvPr/>
        </p:nvSpPr>
        <p:spPr>
          <a:xfrm>
            <a:off x="815942" y="2319381"/>
            <a:ext cx="3370946" cy="3519443"/>
          </a:xfrm>
          <a:prstGeom prst="roundRect">
            <a:avLst>
              <a:gd name="adj" fmla="val 2166"/>
            </a:avLst>
          </a:prstGeom>
          <a:solidFill>
            <a:srgbClr val="FFFDF8"/>
          </a:solidFill>
          <a:ln w="6350">
            <a:solidFill>
              <a:srgbClr val="E2D8C8"/>
            </a:solidFill>
            <a:prstDash val="solid"/>
          </a:ln>
        </p:spPr>
        <p:txBody>
          <a:bodyPr/>
          <a:p/>
        </p:txBody>
      </p:sp>
      <p:sp>
        <p:nvSpPr>
          <p:cNvPr id="10" name="Text 5"/>
          <p:cNvSpPr/>
          <p:nvPr/>
        </p:nvSpPr>
        <p:spPr>
          <a:xfrm>
            <a:off x="1044884" y="2522913"/>
            <a:ext cx="3000454"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8102E"/>
                </a:solidFill>
                <a:latin typeface="Oswald" pitchFamily="34" charset="0"/>
                <a:ea typeface="Oswald" pitchFamily="34" charset="-122"/>
                <a:cs typeface="Oswald" pitchFamily="34" charset="-120"/>
              </a:rPr>
              <a:t>COMPLETED</a:t>
            </a:r>
            <a:endParaRPr lang="en-US" sz="1800" dirty="0"/>
          </a:p>
        </p:txBody>
      </p:sp>
      <p:sp>
        <p:nvSpPr>
          <p:cNvPr id="11" name="Text 6"/>
          <p:cNvSpPr/>
          <p:nvPr/>
        </p:nvSpPr>
        <p:spPr>
          <a:xfrm>
            <a:off x="1129466" y="2898787"/>
            <a:ext cx="2908252" cy="2606040"/>
          </a:xfrm>
          <a:prstGeom prst="rect">
            <a:avLst/>
          </a:prstGeom>
          <a:noFill/>
          <a:ln/>
        </p:spPr>
        <p:txBody>
          <a:bodyPr wrap="square" lIns="0" tIns="0" rIns="0" bIns="0" rtlCol="0" anchor="t">
            <a:normAutofit/>
          </a:bodyPr>
          <a:lstStyle/>
          <a:p>
            <a:pPr algn="l" marL="146304" indent="-146304">
              <a:lnSpc>
                <a:spcPct val="115000"/>
              </a:lnSpc>
              <a:spcBef>
                <a:spcPts val="0"/>
              </a:spcBef>
              <a:spcAft>
                <a:spcPts val="1300"/>
              </a:spcAft>
              <a:buSzPct val="100000"/>
              <a:buChar char="•"/>
            </a:pPr>
            <a:pPr algn="l" marL="169418" indent="-169418">
              <a:lnSpc>
                <a:spcPts val="2030"/>
              </a:lnSpc>
              <a:buSzPct val="100000"/>
              <a:buChar char="•"/>
            </a:pPr>
            <a:r>
              <a:rPr lang="en-US" sz="1800" dirty="0">
                <a:solidFill>
                  <a:srgbClr val="1E1917"/>
                </a:solidFill>
                <a:latin typeface="Public Sans" pitchFamily="34" charset="0"/>
                <a:ea typeface="Public Sans" pitchFamily="34" charset="-122"/>
                <a:cs typeface="Public Sans" pitchFamily="34" charset="-120"/>
              </a:rPr>
              <a:t>Android 1.9.0 + Chrome 1.1.0.</a:t>
            </a:r>
            <a:endParaRPr lang="en-US" sz="1400" dirty="0"/>
          </a:p>
          <a:p>
            <a:pPr algn="l" marL="146304" indent="-146304">
              <a:lnSpc>
                <a:spcPct val="115000"/>
              </a:lnSpc>
              <a:spcBef>
                <a:spcPts val="0"/>
              </a:spcBef>
              <a:spcAft>
                <a:spcPts val="1300"/>
              </a:spcAft>
              <a:buSzPct val="100000"/>
              <a:buChar char="•"/>
            </a:pPr>
            <a:r>
              <a:rPr lang="en-US" sz="1800" dirty="0">
                <a:solidFill>
                  <a:srgbClr val="1E1917"/>
                </a:solidFill>
                <a:latin typeface="Public Sans" pitchFamily="34" charset="0"/>
                <a:ea typeface="Public Sans" pitchFamily="34" charset="-122"/>
                <a:cs typeface="Public Sans" pitchFamily="34" charset="-120"/>
              </a:rPr>
              <a:t>593 Android unit + 73 offline checks passed.</a:t>
            </a:r>
          </a:p>
          <a:p>
            <a:pPr algn="l" marL="146304" indent="-146304">
              <a:lnSpc>
                <a:spcPct val="115000"/>
              </a:lnSpc>
              <a:spcBef>
                <a:spcPts val="0"/>
              </a:spcBef>
              <a:spcAft>
                <a:spcPts val="1300"/>
              </a:spcAft>
              <a:buSzPct val="100000"/>
              <a:buChar char="•"/>
            </a:pPr>
            <a:r>
              <a:rPr lang="en-US" sz="1800" dirty="0">
                <a:solidFill>
                  <a:srgbClr val="1E1917"/>
                </a:solidFill>
                <a:latin typeface="Public Sans" pitchFamily="34" charset="0"/>
                <a:ea typeface="Public Sans" pitchFamily="34" charset="-122"/>
                <a:cs typeface="Public Sans" pitchFamily="34" charset="-120"/>
              </a:rPr>
              <a:t>431 Chrome unit + 43 browser checks passed.</a:t>
            </a:r>
          </a:p>
        </p:txBody>
      </p:sp>
      <p:sp>
        <p:nvSpPr>
          <p:cNvPr id="12" name="Shape 7"/>
          <p:cNvSpPr/>
          <p:nvPr/>
        </p:nvSpPr>
        <p:spPr>
          <a:xfrm>
            <a:off x="4396416" y="2319381"/>
            <a:ext cx="3370946" cy="3519443"/>
          </a:xfrm>
          <a:prstGeom prst="roundRect">
            <a:avLst>
              <a:gd name="adj" fmla="val 2166"/>
            </a:avLst>
          </a:prstGeom>
          <a:solidFill>
            <a:srgbClr val="FFFDF8"/>
          </a:solidFill>
          <a:ln w="6350">
            <a:solidFill>
              <a:srgbClr val="E2D8C8"/>
            </a:solidFill>
            <a:prstDash val="solid"/>
          </a:ln>
        </p:spPr>
        <p:txBody>
          <a:bodyPr/>
          <a:p/>
        </p:txBody>
      </p:sp>
      <p:sp>
        <p:nvSpPr>
          <p:cNvPr id="13" name="Text 8"/>
          <p:cNvSpPr/>
          <p:nvPr/>
        </p:nvSpPr>
        <p:spPr>
          <a:xfrm>
            <a:off x="4625357" y="2522913"/>
            <a:ext cx="3000454"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8102E"/>
                </a:solidFill>
                <a:latin typeface="Oswald" pitchFamily="34" charset="0"/>
                <a:ea typeface="Oswald" pitchFamily="34" charset="-122"/>
                <a:cs typeface="Oswald" pitchFamily="34" charset="-120"/>
              </a:rPr>
              <a:t>IN PROGRESS</a:t>
            </a:r>
            <a:endParaRPr lang="en-US" sz="1800" dirty="0"/>
          </a:p>
        </p:txBody>
      </p:sp>
      <p:sp>
        <p:nvSpPr>
          <p:cNvPr id="14" name="Text 9"/>
          <p:cNvSpPr/>
          <p:nvPr/>
        </p:nvSpPr>
        <p:spPr>
          <a:xfrm>
            <a:off x="4709939" y="2898787"/>
            <a:ext cx="2908252" cy="2606040"/>
          </a:xfrm>
          <a:prstGeom prst="rect">
            <a:avLst/>
          </a:prstGeom>
          <a:noFill/>
          <a:ln/>
        </p:spPr>
        <p:txBody>
          <a:bodyPr wrap="square" lIns="0" tIns="0" rIns="0" bIns="0" rtlCol="0" anchor="t">
            <a:normAutofit/>
          </a:bodyPr>
          <a:lstStyle/>
          <a:p>
            <a:pPr algn="l" marL="146304" indent="-146304">
              <a:lnSpc>
                <a:spcPct val="115000"/>
              </a:lnSpc>
              <a:spcBef>
                <a:spcPts val="0"/>
              </a:spcBef>
              <a:spcAft>
                <a:spcPts val="1300"/>
              </a:spcAft>
              <a:buSzPct val="100000"/>
              <a:buChar char="•"/>
            </a:pPr>
            <a:pPr algn="l" marL="169418" indent="-169418">
              <a:lnSpc>
                <a:spcPts val="2030"/>
              </a:lnSpc>
              <a:buSzPct val="100000"/>
              <a:buChar char="•"/>
            </a:pPr>
            <a:r>
              <a:rPr lang="en-US" sz="1800" dirty="0">
                <a:solidFill>
                  <a:srgbClr val="1E1917"/>
                </a:solidFill>
                <a:latin typeface="Public Sans" pitchFamily="34" charset="0"/>
                <a:ea typeface="Public Sans" pitchFamily="34" charset="-122"/>
                <a:cs typeface="Public Sans" pitchFamily="34" charset="-120"/>
              </a:rPr>
              <a:t>S24/A36 rehearsal and accessibility review.</a:t>
            </a:r>
            <a:endParaRPr lang="en-US" sz="1400" dirty="0"/>
          </a:p>
          <a:p>
            <a:pPr algn="l" marL="146304" indent="-146304">
              <a:lnSpc>
                <a:spcPct val="115000"/>
              </a:lnSpc>
              <a:spcBef>
                <a:spcPts val="0"/>
              </a:spcBef>
              <a:spcAft>
                <a:spcPts val="1300"/>
              </a:spcAft>
              <a:buSzPct val="100000"/>
              <a:buChar char="•"/>
            </a:pPr>
            <a:r>
              <a:rPr lang="en-US" sz="1800" dirty="0">
                <a:solidFill>
                  <a:srgbClr val="1E1917"/>
                </a:solidFill>
                <a:latin typeface="Public Sans" pitchFamily="34" charset="0"/>
                <a:ea typeface="Public Sans" pitchFamily="34" charset="-122"/>
                <a:cs typeface="Public Sans" pitchFamily="34" charset="-120"/>
              </a:rPr>
              <a:t>Independent multilingual fraud evaluation.</a:t>
            </a:r>
          </a:p>
          <a:p>
            <a:pPr algn="l" marL="146304" indent="-146304">
              <a:lnSpc>
                <a:spcPct val="115000"/>
              </a:lnSpc>
              <a:spcBef>
                <a:spcPts val="0"/>
              </a:spcBef>
              <a:spcAft>
                <a:spcPts val="1300"/>
              </a:spcAft>
              <a:buSzPct val="100000"/>
              <a:buChar char="•"/>
            </a:pPr>
            <a:r>
              <a:rPr lang="en-US" sz="1800" dirty="0">
                <a:solidFill>
                  <a:srgbClr val="1E1917"/>
                </a:solidFill>
                <a:latin typeface="Public Sans" pitchFamily="34" charset="0"/>
                <a:ea typeface="Public Sans" pitchFamily="34" charset="-122"/>
                <a:cs typeface="Public Sans" pitchFamily="34" charset="-120"/>
              </a:rPr>
              <a:t>Publisher signing and store submission.</a:t>
            </a:r>
          </a:p>
        </p:txBody>
      </p:sp>
      <p:sp>
        <p:nvSpPr>
          <p:cNvPr id="15" name="Shape 10"/>
          <p:cNvSpPr/>
          <p:nvPr/>
        </p:nvSpPr>
        <p:spPr>
          <a:xfrm>
            <a:off x="7983239" y="2325731"/>
            <a:ext cx="3386468" cy="3506743"/>
          </a:xfrm>
          <a:prstGeom prst="roundRect">
            <a:avLst>
              <a:gd name="adj" fmla="val 1969"/>
            </a:avLst>
          </a:prstGeom>
          <a:noFill/>
          <a:ln w="19050">
            <a:solidFill>
              <a:srgbClr val="B9AC9A"/>
            </a:solidFill>
            <a:prstDash val="dash"/>
          </a:ln>
        </p:spPr>
        <p:txBody>
          <a:bodyPr/>
          <a:p/>
        </p:txBody>
      </p:sp>
      <p:sp>
        <p:nvSpPr>
          <p:cNvPr id="18" name="Text 13"/>
          <p:cNvSpPr/>
          <p:nvPr/>
        </p:nvSpPr>
        <p:spPr>
          <a:xfrm>
            <a:off x="812767" y="6238270"/>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04A"/>
                </a:solidFill>
                <a:latin typeface="Public Sans" pitchFamily="34" charset="0"/>
                <a:ea typeface="Public Sans" pitchFamily="34" charset="-122"/>
                <a:cs typeface="Public Sans" pitchFamily="34" charset="-120"/>
              </a:rPr>
              <a:t>Code Carnival 3.0 · ADSC, Atmiya University</a:t>
            </a:r>
            <a:endParaRPr lang="en-US" sz="1200" dirty="0"/>
          </a:p>
        </p:txBody>
      </p:sp>
      <p:sp>
        <p:nvSpPr>
          <p:cNvPr id="19" name="Text 14"/>
          <p:cNvSpPr/>
          <p:nvPr/>
        </p:nvSpPr>
        <p:spPr>
          <a:xfrm>
            <a:off x="8108983" y="6238270"/>
            <a:ext cx="3270250" cy="238775"/>
          </a:xfrm>
          <a:prstGeom prst="rect">
            <a:avLst/>
          </a:prstGeom>
          <a:noFill/>
          <a:ln/>
        </p:spPr>
        <p:txBody>
          <a:bodyPr wrap="square" lIns="0" tIns="0" rIns="0" bIns="0" rtlCol="0" anchor="t">
            <a:normAutofit/>
          </a:bodyPr>
          <a:lstStyle/>
          <a:p>
            <a:pPr algn="r" indent="0" marL="0">
              <a:lnSpc>
                <a:spcPct val="110000"/>
              </a:lnSpc>
              <a:spcBef>
                <a:spcPts val="0"/>
              </a:spcBef>
              <a:spcAft>
                <a:spcPts val="0"/>
              </a:spcAft>
              <a:buNone/>
            </a:pPr>
            <a:pPr algn="r" indent="0" marL="0">
              <a:lnSpc>
                <a:spcPts val="1680"/>
              </a:lnSpc>
              <a:buNone/>
            </a:pPr>
            <a:r>
              <a:rPr lang="en-US" sz="1200" b="1" spc="100" kern="0" dirty="0">
                <a:solidFill>
                  <a:srgbClr val="C8102E"/>
                </a:solidFill>
                <a:latin typeface="Public Sans" pitchFamily="34" charset="0"/>
                <a:ea typeface="Public Sans" pitchFamily="34" charset="-122"/>
                <a:cs typeface="Public Sans" pitchFamily="34" charset="-120"/>
              </a:rPr>
              <a:t>Doclock</a:t>
            </a:r>
            <a:endParaRPr lang="en-US" sz="1200" dirty="0"/>
          </a:p>
        </p:txBody>
      </p:sp>
      <p:sp>
        <p:nvSpPr>
          <p:cNvPr id="20" name="TextBox 19"/>
          <p:cNvSpPr txBox="1"/>
          <p:nvPr/>
        </p:nvSpPr>
        <p:spPr>
          <a:xfrm>
            <a:off x="8211312" y="2532888"/>
            <a:ext cx="2944368" cy="320040"/>
          </a:xfrm>
          <a:prstGeom prst="rect">
            <a:avLst/>
          </a:prstGeom>
          <a:noFill/>
        </p:spPr>
        <p:txBody>
          <a:bodyPr wrap="square" lIns="0" rIns="0" tIns="0" bIns="0">
            <a:spAutoFit/>
          </a:bodyPr>
          <a:lstStyle/>
          <a:p>
            <a:pPr algn="l">
              <a:lnSpc>
                <a:spcPct val="108000"/>
              </a:lnSpc>
              <a:spcAft>
                <a:spcPts val="0"/>
              </a:spcAft>
            </a:pPr>
            <a:r>
              <a:rPr sz="1800" b="1">
                <a:solidFill>
                  <a:srgbClr val="C8102E"/>
                </a:solidFill>
                <a:latin typeface="Oswald"/>
              </a:rPr>
              <a:t>ACTUAL PRODUCT CAPTURES</a:t>
            </a:r>
          </a:p>
        </p:txBody>
      </p:sp>
      <p:sp>
        <p:nvSpPr>
          <p:cNvPr id="21" name="TextBox 20"/>
          <p:cNvSpPr txBox="1"/>
          <p:nvPr/>
        </p:nvSpPr>
        <p:spPr>
          <a:xfrm>
            <a:off x="8229600" y="2971800"/>
            <a:ext cx="2926080" cy="310896"/>
          </a:xfrm>
          <a:prstGeom prst="rect">
            <a:avLst/>
          </a:prstGeom>
          <a:noFill/>
        </p:spPr>
        <p:txBody>
          <a:bodyPr wrap="square" lIns="0" rIns="0" tIns="0" bIns="0">
            <a:spAutoFit/>
          </a:bodyPr>
          <a:lstStyle/>
          <a:p>
            <a:pPr algn="l">
              <a:lnSpc>
                <a:spcPct val="108000"/>
              </a:lnSpc>
              <a:spcAft>
                <a:spcPts val="0"/>
              </a:spcAft>
            </a:pPr>
            <a:r>
              <a:rPr sz="1800" b="0">
                <a:solidFill>
                  <a:srgbClr val="1E1917"/>
                </a:solidFill>
                <a:latin typeface="Public Sans"/>
              </a:rPr>
              <a:t>Android warning</a:t>
            </a:r>
          </a:p>
        </p:txBody>
      </p:sp>
      <p:pic>
        <p:nvPicPr>
          <p:cNvPr id="22" name="Picture 21" descr="android-warning-detail.png"/>
          <p:cNvPicPr>
            <a:picLocks noChangeAspect="1"/>
          </p:cNvPicPr>
          <p:nvPr/>
        </p:nvPicPr>
        <p:blipFill>
          <a:blip r:embed="rId6"/>
          <a:stretch>
            <a:fillRect/>
          </a:stretch>
        </p:blipFill>
        <p:spPr>
          <a:xfrm>
            <a:off x="8229600" y="3337560"/>
            <a:ext cx="2880360" cy="930859"/>
          </a:xfrm>
          <a:prstGeom prst="rect">
            <a:avLst/>
          </a:prstGeom>
        </p:spPr>
      </p:pic>
      <p:sp>
        <p:nvSpPr>
          <p:cNvPr id="23" name="TextBox 22"/>
          <p:cNvSpPr txBox="1"/>
          <p:nvPr/>
        </p:nvSpPr>
        <p:spPr>
          <a:xfrm>
            <a:off x="8229600" y="4443984"/>
            <a:ext cx="2926080" cy="310896"/>
          </a:xfrm>
          <a:prstGeom prst="rect">
            <a:avLst/>
          </a:prstGeom>
          <a:noFill/>
        </p:spPr>
        <p:txBody>
          <a:bodyPr wrap="square" lIns="0" rIns="0" tIns="0" bIns="0">
            <a:spAutoFit/>
          </a:bodyPr>
          <a:lstStyle/>
          <a:p>
            <a:pPr algn="l">
              <a:lnSpc>
                <a:spcPct val="108000"/>
              </a:lnSpc>
              <a:spcAft>
                <a:spcPts val="0"/>
              </a:spcAft>
            </a:pPr>
            <a:r>
              <a:rPr sz="1800" b="0">
                <a:solidFill>
                  <a:srgbClr val="1E1917"/>
                </a:solidFill>
                <a:latin typeface="Public Sans"/>
              </a:rPr>
              <a:t>Chrome warning</a:t>
            </a:r>
          </a:p>
        </p:txBody>
      </p:sp>
      <p:pic>
        <p:nvPicPr>
          <p:cNvPr id="24" name="Picture 23" descr="chrome-warning-detail.png"/>
          <p:cNvPicPr>
            <a:picLocks noChangeAspect="1"/>
          </p:cNvPicPr>
          <p:nvPr/>
        </p:nvPicPr>
        <p:blipFill>
          <a:blip r:embed="rId7"/>
          <a:stretch>
            <a:fillRect/>
          </a:stretch>
        </p:blipFill>
        <p:spPr>
          <a:xfrm>
            <a:off x="8229600" y="4791456"/>
            <a:ext cx="2880360" cy="9427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0E6"/>
        </a:solidFill>
      </p:bgPr>
    </p:bg>
    <p:spTree>
      <p:nvGrpSpPr>
        <p:cNvPr id="1" name=""/>
        <p:cNvGrpSpPr/>
        <p:nvPr/>
      </p:nvGrpSpPr>
      <p:grpSpPr>
        <a:xfrm>
          <a:off x="0" y="0"/>
          <a:ext cx="0" cy="0"/>
          <a:chOff x="0" y="0"/>
          <a:chExt cx="0" cy="0"/>
        </a:xfrm>
      </p:grpSpPr>
      <p:pic>
        <p:nvPicPr>
          <p:cNvPr id="2" name="Image 0" descr="Atmiya University logo">    </p:cNvPr>
          <p:cNvPicPr>
            <a:picLocks noChangeAspect="1"/>
          </p:cNvPicPr>
          <p:nvPr/>
        </p:nvPicPr>
        <p:blipFill>
          <a:blip r:embed="rId1"/>
          <a:srcRect l="0" r="0" t="-43" b="-43"/>
          <a:stretch/>
        </p:blipFill>
        <p:spPr>
          <a:xfrm>
            <a:off x="812767" y="330181"/>
            <a:ext cx="1428750" cy="406356"/>
          </a:xfrm>
          <a:prstGeom prst="rect">
            <a:avLst/>
          </a:prstGeom>
        </p:spPr>
      </p:pic>
      <p:pic>
        <p:nvPicPr>
          <p:cNvPr id="3" name="Image 1" descr="Centre for Research, Innovation and Translation logo">    </p:cNvPr>
          <p:cNvPicPr>
            <a:picLocks noChangeAspect="1"/>
          </p:cNvPicPr>
          <p:nvPr/>
        </p:nvPicPr>
        <p:blipFill>
          <a:blip r:embed="rId2"/>
          <a:srcRect l="-420" r="-420" t="0" b="0"/>
          <a:stretch/>
        </p:blipFill>
        <p:spPr>
          <a:xfrm>
            <a:off x="9467948" y="304769"/>
            <a:ext cx="457178" cy="457178"/>
          </a:xfrm>
          <a:prstGeom prst="rect">
            <a:avLst/>
          </a:prstGeom>
        </p:spPr>
      </p:pic>
      <p:pic>
        <p:nvPicPr>
          <p:cNvPr id="4" name="Image 2" descr="ADSC logo">    </p:cNvPr>
          <p:cNvPicPr>
            <a:picLocks noChangeAspect="1"/>
          </p:cNvPicPr>
          <p:nvPr/>
        </p:nvPicPr>
        <p:blipFill>
          <a:blip r:embed="rId3"/>
          <a:srcRect l="0" r="0" t="-111" b="-111"/>
          <a:stretch/>
        </p:blipFill>
        <p:spPr>
          <a:xfrm>
            <a:off x="10128304" y="393681"/>
            <a:ext cx="1250928" cy="279356"/>
          </a:xfrm>
          <a:prstGeom prst="rect">
            <a:avLst/>
          </a:prstGeom>
        </p:spPr>
      </p:pic>
      <p:sp>
        <p:nvSpPr>
          <p:cNvPr id="5" name="Shape 0"/>
          <p:cNvSpPr/>
          <p:nvPr/>
        </p:nvSpPr>
        <p:spPr>
          <a:xfrm>
            <a:off x="812767" y="939713"/>
            <a:ext cx="10566466" cy="25356"/>
          </a:xfrm>
          <a:prstGeom prst="rect">
            <a:avLst/>
          </a:prstGeom>
          <a:solidFill>
            <a:srgbClr val="C8102E"/>
          </a:solidFill>
          <a:ln/>
        </p:spPr>
        <p:txBody>
          <a:bodyPr/>
          <a:p/>
        </p:txBody>
      </p:sp>
      <p:sp>
        <p:nvSpPr>
          <p:cNvPr id="6" name="Text 1"/>
          <p:cNvSpPr/>
          <p:nvPr/>
        </p:nvSpPr>
        <p:spPr>
          <a:xfrm>
            <a:off x="812767" y="1142839"/>
            <a:ext cx="10883460" cy="238775"/>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8102E"/>
                </a:solidFill>
                <a:latin typeface="Public Sans" pitchFamily="34" charset="0"/>
                <a:ea typeface="Public Sans" pitchFamily="34" charset="-122"/>
                <a:cs typeface="Public Sans" pitchFamily="34" charset="-120"/>
              </a:rPr>
              <a:t>07 · THE GETAWAY</a:t>
            </a:r>
            <a:endParaRPr lang="en-US" sz="1200" dirty="0"/>
          </a:p>
        </p:txBody>
      </p:sp>
      <p:sp>
        <p:nvSpPr>
          <p:cNvPr id="7" name="Text 2"/>
          <p:cNvSpPr/>
          <p:nvPr>
            <p:ph type="title"/>
          </p:nvPr>
        </p:nvSpPr>
        <p:spPr>
          <a:xfrm>
            <a:off x="812767" y="1406978"/>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1917"/>
                </a:solidFill>
                <a:latin typeface="Oswald" pitchFamily="34" charset="0"/>
                <a:ea typeface="Oswald" pitchFamily="34" charset="-122"/>
                <a:cs typeface="Oswald" pitchFamily="34" charset="-120"/>
              </a:rPr>
              <a:t>FUTURE PLAN / NEXT STEPS</a:t>
            </a:r>
            <a:endParaRPr lang="en-US" sz="3200" dirty="0"/>
          </a:p>
        </p:txBody>
      </p:sp>
      <p:sp>
        <p:nvSpPr>
          <p:cNvPr id="9" name="Shape 4"/>
          <p:cNvSpPr/>
          <p:nvPr/>
        </p:nvSpPr>
        <p:spPr>
          <a:xfrm>
            <a:off x="815942" y="2319387"/>
            <a:ext cx="3380317" cy="3519443"/>
          </a:xfrm>
          <a:prstGeom prst="roundRect">
            <a:avLst>
              <a:gd name="adj" fmla="val 2160"/>
            </a:avLst>
          </a:prstGeom>
          <a:solidFill>
            <a:srgbClr val="FFFDF8"/>
          </a:solidFill>
          <a:ln w="6350">
            <a:solidFill>
              <a:srgbClr val="E2D8C8"/>
            </a:solidFill>
            <a:prstDash val="solid"/>
          </a:ln>
        </p:spPr>
        <p:txBody>
          <a:bodyPr/>
          <a:p/>
        </p:txBody>
      </p:sp>
      <p:sp>
        <p:nvSpPr>
          <p:cNvPr id="10" name="Text 5"/>
          <p:cNvSpPr/>
          <p:nvPr/>
        </p:nvSpPr>
        <p:spPr>
          <a:xfrm>
            <a:off x="1044884" y="2522916"/>
            <a:ext cx="3010106" cy="23877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8102E"/>
                </a:solidFill>
                <a:latin typeface="Public Sans" pitchFamily="34" charset="0"/>
                <a:ea typeface="Public Sans" pitchFamily="34" charset="-122"/>
                <a:cs typeface="Public Sans" pitchFamily="34" charset="-120"/>
              </a:rPr>
              <a:t>PHASE 1</a:t>
            </a:r>
            <a:endParaRPr lang="en-US" sz="1200" dirty="0"/>
          </a:p>
        </p:txBody>
      </p:sp>
      <p:sp>
        <p:nvSpPr>
          <p:cNvPr id="11" name="Text 6"/>
          <p:cNvSpPr/>
          <p:nvPr/>
        </p:nvSpPr>
        <p:spPr>
          <a:xfrm>
            <a:off x="1044884" y="2837879"/>
            <a:ext cx="3010106"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917"/>
                </a:solidFill>
                <a:latin typeface="Oswald" pitchFamily="34" charset="0"/>
                <a:ea typeface="Oswald" pitchFamily="34" charset="-122"/>
                <a:cs typeface="Oswald" pitchFamily="34" charset="-120"/>
              </a:rPr>
              <a:t>DURING THE HACKATHON</a:t>
            </a:r>
            <a:endParaRPr lang="en-US" sz="1800" dirty="0"/>
          </a:p>
        </p:txBody>
      </p:sp>
      <p:sp>
        <p:nvSpPr>
          <p:cNvPr id="12" name="Text 7"/>
          <p:cNvSpPr/>
          <p:nvPr/>
        </p:nvSpPr>
        <p:spPr>
          <a:xfrm>
            <a:off x="1129466" y="3213751"/>
            <a:ext cx="2917904" cy="2468880"/>
          </a:xfrm>
          <a:prstGeom prst="rect">
            <a:avLst/>
          </a:prstGeom>
          <a:noFill/>
          <a:ln/>
        </p:spPr>
        <p:txBody>
          <a:bodyPr wrap="square" lIns="0" tIns="0" rIns="0" bIns="0" rtlCol="0" anchor="t">
            <a:normAutofit/>
          </a:bodyPr>
          <a:lstStyle/>
          <a:p>
            <a:pPr algn="l" marL="146304" indent="-146304">
              <a:lnSpc>
                <a:spcPct val="115000"/>
              </a:lnSpc>
              <a:spcBef>
                <a:spcPts val="0"/>
              </a:spcBef>
              <a:spcAft>
                <a:spcPts val="1500"/>
              </a:spcAft>
              <a:buSzPct val="100000"/>
              <a:buChar char="•"/>
            </a:pPr>
            <a:pPr algn="l" marL="169418" indent="-169418">
              <a:lnSpc>
                <a:spcPts val="2030"/>
              </a:lnSpc>
              <a:buSzPct val="100000"/>
              <a:buChar char="•"/>
            </a:pPr>
            <a:r>
              <a:rPr lang="en-US" sz="1800" dirty="0">
                <a:solidFill>
                  <a:srgbClr val="1E1917"/>
                </a:solidFill>
                <a:latin typeface="Public Sans" pitchFamily="34" charset="0"/>
                <a:ea typeface="Public Sans" pitchFamily="34" charset="-122"/>
                <a:cs typeface="Public Sans" pitchFamily="34" charset="-120"/>
              </a:rPr>
              <a:t>Rehearse app + extension on S24/A36; verify sound and consent.</a:t>
            </a:r>
            <a:endParaRPr lang="en-US" sz="1400" dirty="0"/>
          </a:p>
          <a:p>
            <a:pPr algn="l" marL="146304" indent="-146304">
              <a:lnSpc>
                <a:spcPct val="115000"/>
              </a:lnSpc>
              <a:spcBef>
                <a:spcPts val="0"/>
              </a:spcBef>
              <a:spcAft>
                <a:spcPts val="1500"/>
              </a:spcAft>
              <a:buSzPct val="100000"/>
              <a:buChar char="•"/>
            </a:pPr>
            <a:r>
              <a:rPr lang="en-US" sz="1800" dirty="0">
                <a:solidFill>
                  <a:srgbClr val="1E1917"/>
                </a:solidFill>
                <a:latin typeface="Public Sans" pitchFamily="34" charset="0"/>
                <a:ea typeface="Public Sans" pitchFamily="34" charset="-122"/>
                <a:cs typeface="Public Sans" pitchFamily="34" charset="-120"/>
              </a:rPr>
              <a:t>Show scam/control pairs, connected evidence and offline scans.</a:t>
            </a:r>
          </a:p>
        </p:txBody>
      </p:sp>
      <p:sp>
        <p:nvSpPr>
          <p:cNvPr id="13" name="Shape 8"/>
          <p:cNvSpPr/>
          <p:nvPr/>
        </p:nvSpPr>
        <p:spPr>
          <a:xfrm>
            <a:off x="4405786" y="2319387"/>
            <a:ext cx="3380372" cy="3519443"/>
          </a:xfrm>
          <a:prstGeom prst="roundRect">
            <a:avLst>
              <a:gd name="adj" fmla="val 2160"/>
            </a:avLst>
          </a:prstGeom>
          <a:solidFill>
            <a:srgbClr val="FFFDF8"/>
          </a:solidFill>
          <a:ln w="6350">
            <a:solidFill>
              <a:srgbClr val="E2D8C8"/>
            </a:solidFill>
            <a:prstDash val="solid"/>
          </a:ln>
        </p:spPr>
        <p:txBody>
          <a:bodyPr/>
          <a:p/>
        </p:txBody>
      </p:sp>
      <p:sp>
        <p:nvSpPr>
          <p:cNvPr id="14" name="Text 9"/>
          <p:cNvSpPr/>
          <p:nvPr/>
        </p:nvSpPr>
        <p:spPr>
          <a:xfrm>
            <a:off x="4634728" y="2522916"/>
            <a:ext cx="3010163" cy="23877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8102E"/>
                </a:solidFill>
                <a:latin typeface="Public Sans" pitchFamily="34" charset="0"/>
                <a:ea typeface="Public Sans" pitchFamily="34" charset="-122"/>
                <a:cs typeface="Public Sans" pitchFamily="34" charset="-120"/>
              </a:rPr>
              <a:t>PHASE 2</a:t>
            </a:r>
            <a:endParaRPr lang="en-US" sz="1200" dirty="0"/>
          </a:p>
        </p:txBody>
      </p:sp>
      <p:sp>
        <p:nvSpPr>
          <p:cNvPr id="15" name="Text 10"/>
          <p:cNvSpPr/>
          <p:nvPr/>
        </p:nvSpPr>
        <p:spPr>
          <a:xfrm>
            <a:off x="4634728" y="2837879"/>
            <a:ext cx="3010163"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917"/>
                </a:solidFill>
                <a:latin typeface="Oswald" pitchFamily="34" charset="0"/>
                <a:ea typeface="Oswald" pitchFamily="34" charset="-122"/>
                <a:cs typeface="Oswald" pitchFamily="34" charset="-120"/>
              </a:rPr>
              <a:t>RIGHT AFTER</a:t>
            </a:r>
            <a:endParaRPr lang="en-US" sz="1800" dirty="0"/>
          </a:p>
        </p:txBody>
      </p:sp>
      <p:sp>
        <p:nvSpPr>
          <p:cNvPr id="16" name="Text 11"/>
          <p:cNvSpPr/>
          <p:nvPr/>
        </p:nvSpPr>
        <p:spPr>
          <a:xfrm>
            <a:off x="4719310" y="3213751"/>
            <a:ext cx="2917961" cy="2468880"/>
          </a:xfrm>
          <a:prstGeom prst="rect">
            <a:avLst/>
          </a:prstGeom>
          <a:noFill/>
          <a:ln/>
        </p:spPr>
        <p:txBody>
          <a:bodyPr wrap="square" lIns="0" tIns="0" rIns="0" bIns="0" rtlCol="0" anchor="t">
            <a:normAutofit/>
          </a:bodyPr>
          <a:lstStyle/>
          <a:p>
            <a:pPr algn="l" marL="146304" indent="-146304">
              <a:lnSpc>
                <a:spcPct val="115000"/>
              </a:lnSpc>
              <a:spcBef>
                <a:spcPts val="0"/>
              </a:spcBef>
              <a:spcAft>
                <a:spcPts val="1500"/>
              </a:spcAft>
              <a:buSzPct val="100000"/>
              <a:buChar char="•"/>
            </a:pPr>
            <a:pPr algn="l" marL="169418" indent="-169418">
              <a:lnSpc>
                <a:spcPts val="2030"/>
              </a:lnSpc>
              <a:buSzPct val="100000"/>
              <a:buChar char="•"/>
            </a:pPr>
            <a:r>
              <a:rPr lang="en-US" sz="1800" dirty="0">
                <a:solidFill>
                  <a:srgbClr val="1E1917"/>
                </a:solidFill>
                <a:latin typeface="Public Sans" pitchFamily="34" charset="0"/>
                <a:ea typeface="Public Sans" pitchFamily="34" charset="-122"/>
                <a:cs typeface="Public Sans" pitchFamily="34" charset="-120"/>
              </a:rPr>
              <a:t>Collect fresh labeled EN/HI/GU examples; evaluate by scam category.</a:t>
            </a:r>
            <a:endParaRPr lang="en-US" sz="1400" dirty="0"/>
          </a:p>
          <a:p>
            <a:pPr algn="l" marL="146304" indent="-146304">
              <a:lnSpc>
                <a:spcPct val="115000"/>
              </a:lnSpc>
              <a:spcBef>
                <a:spcPts val="0"/>
              </a:spcBef>
              <a:spcAft>
                <a:spcPts val="1500"/>
              </a:spcAft>
              <a:buSzPct val="100000"/>
              <a:buChar char="•"/>
            </a:pPr>
            <a:r>
              <a:rPr lang="en-US" sz="1800" dirty="0">
                <a:solidFill>
                  <a:srgbClr val="1E1917"/>
                </a:solidFill>
                <a:latin typeface="Public Sans" pitchFamily="34" charset="0"/>
                <a:ea typeface="Public Sans" pitchFamily="34" charset="-122"/>
                <a:cs typeface="Public Sans" pitchFamily="34" charset="-120"/>
              </a:rPr>
              <a:t>Run a consented pilot; refine warnings and add story playbooks.</a:t>
            </a:r>
          </a:p>
        </p:txBody>
      </p:sp>
      <p:sp>
        <p:nvSpPr>
          <p:cNvPr id="17" name="Shape 12"/>
          <p:cNvSpPr/>
          <p:nvPr/>
        </p:nvSpPr>
        <p:spPr>
          <a:xfrm>
            <a:off x="7995686" y="2319387"/>
            <a:ext cx="3380372" cy="3519443"/>
          </a:xfrm>
          <a:prstGeom prst="roundRect">
            <a:avLst>
              <a:gd name="adj" fmla="val 2160"/>
            </a:avLst>
          </a:prstGeom>
          <a:solidFill>
            <a:srgbClr val="FFFDF8"/>
          </a:solidFill>
          <a:ln w="6350">
            <a:solidFill>
              <a:srgbClr val="E2D8C8"/>
            </a:solidFill>
            <a:prstDash val="solid"/>
          </a:ln>
        </p:spPr>
        <p:txBody>
          <a:bodyPr/>
          <a:p/>
        </p:txBody>
      </p:sp>
      <p:sp>
        <p:nvSpPr>
          <p:cNvPr id="18" name="Text 13"/>
          <p:cNvSpPr/>
          <p:nvPr/>
        </p:nvSpPr>
        <p:spPr>
          <a:xfrm>
            <a:off x="8224627" y="2522916"/>
            <a:ext cx="3010163" cy="23877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8102E"/>
                </a:solidFill>
                <a:latin typeface="Public Sans" pitchFamily="34" charset="0"/>
                <a:ea typeface="Public Sans" pitchFamily="34" charset="-122"/>
                <a:cs typeface="Public Sans" pitchFamily="34" charset="-120"/>
              </a:rPr>
              <a:t>PHASE 3</a:t>
            </a:r>
            <a:endParaRPr lang="en-US" sz="1200" dirty="0"/>
          </a:p>
        </p:txBody>
      </p:sp>
      <p:sp>
        <p:nvSpPr>
          <p:cNvPr id="19" name="Text 14"/>
          <p:cNvSpPr/>
          <p:nvPr/>
        </p:nvSpPr>
        <p:spPr>
          <a:xfrm>
            <a:off x="8224627" y="2837879"/>
            <a:ext cx="3010163"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917"/>
                </a:solidFill>
                <a:latin typeface="Oswald" pitchFamily="34" charset="0"/>
                <a:ea typeface="Oswald" pitchFamily="34" charset="-122"/>
                <a:cs typeface="Oswald" pitchFamily="34" charset="-120"/>
              </a:rPr>
              <a:t>LONG-TERM VISION</a:t>
            </a:r>
            <a:endParaRPr lang="en-US" sz="1800" dirty="0"/>
          </a:p>
        </p:txBody>
      </p:sp>
      <p:sp>
        <p:nvSpPr>
          <p:cNvPr id="20" name="Text 15"/>
          <p:cNvSpPr/>
          <p:nvPr/>
        </p:nvSpPr>
        <p:spPr>
          <a:xfrm>
            <a:off x="8309209" y="3213751"/>
            <a:ext cx="2917961" cy="2468880"/>
          </a:xfrm>
          <a:prstGeom prst="rect">
            <a:avLst/>
          </a:prstGeom>
          <a:noFill/>
          <a:ln/>
        </p:spPr>
        <p:txBody>
          <a:bodyPr wrap="square" lIns="0" tIns="0" rIns="0" bIns="0" rtlCol="0" anchor="t">
            <a:normAutofit/>
          </a:bodyPr>
          <a:lstStyle/>
          <a:p>
            <a:pPr algn="l" marL="146304" indent="-146304">
              <a:lnSpc>
                <a:spcPct val="115000"/>
              </a:lnSpc>
              <a:spcBef>
                <a:spcPts val="0"/>
              </a:spcBef>
              <a:spcAft>
                <a:spcPts val="1500"/>
              </a:spcAft>
              <a:buSzPct val="100000"/>
              <a:buChar char="•"/>
            </a:pPr>
            <a:pPr algn="l" marL="169418" indent="-169418">
              <a:lnSpc>
                <a:spcPts val="2030"/>
              </a:lnSpc>
              <a:buSzPct val="100000"/>
              <a:buChar char="•"/>
            </a:pPr>
            <a:r>
              <a:rPr lang="en-US" sz="1800" dirty="0">
                <a:solidFill>
                  <a:srgbClr val="1E1917"/>
                </a:solidFill>
                <a:latin typeface="Public Sans" pitchFamily="34" charset="0"/>
                <a:ea typeface="Public Sans" pitchFamily="34" charset="-122"/>
                <a:cs typeface="Public Sans" pitchFamily="34" charset="-120"/>
              </a:rPr>
              <a:t>Signed model updates, wider device support and store releases.</a:t>
            </a:r>
            <a:endParaRPr lang="en-US" sz="1400" dirty="0"/>
          </a:p>
          <a:p>
            <a:pPr algn="l" marL="146304" indent="-146304">
              <a:lnSpc>
                <a:spcPct val="115000"/>
              </a:lnSpc>
              <a:spcBef>
                <a:spcPts val="0"/>
              </a:spcBef>
              <a:spcAft>
                <a:spcPts val="1500"/>
              </a:spcAft>
              <a:buSzPct val="100000"/>
              <a:buChar char="•"/>
            </a:pPr>
            <a:r>
              <a:rPr lang="en-US" sz="1800" dirty="0">
                <a:solidFill>
                  <a:srgbClr val="1E1917"/>
                </a:solidFill>
                <a:latin typeface="Public Sans" pitchFamily="34" charset="0"/>
                <a:ea typeface="Public Sans" pitchFamily="34" charset="-122"/>
                <a:cs typeface="Public Sans" pitchFamily="34" charset="-120"/>
              </a:rPr>
              <a:t>Explore bank/education partnerships through private pilots.</a:t>
            </a:r>
          </a:p>
        </p:txBody>
      </p:sp>
      <p:sp>
        <p:nvSpPr>
          <p:cNvPr id="21" name="Text 16"/>
          <p:cNvSpPr/>
          <p:nvPr/>
        </p:nvSpPr>
        <p:spPr>
          <a:xfrm>
            <a:off x="812767" y="6238273"/>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04A"/>
                </a:solidFill>
                <a:latin typeface="Public Sans" pitchFamily="34" charset="0"/>
                <a:ea typeface="Public Sans" pitchFamily="34" charset="-122"/>
                <a:cs typeface="Public Sans" pitchFamily="34" charset="-120"/>
              </a:rPr>
              <a:t>Code Carnival 3.0 · ADSC, Atmiya University</a:t>
            </a:r>
            <a:endParaRPr lang="en-US" sz="1200" dirty="0"/>
          </a:p>
        </p:txBody>
      </p:sp>
      <p:sp>
        <p:nvSpPr>
          <p:cNvPr id="22" name="Text 17"/>
          <p:cNvSpPr/>
          <p:nvPr/>
        </p:nvSpPr>
        <p:spPr>
          <a:xfrm>
            <a:off x="8108983" y="6238273"/>
            <a:ext cx="3270250" cy="238775"/>
          </a:xfrm>
          <a:prstGeom prst="rect">
            <a:avLst/>
          </a:prstGeom>
          <a:noFill/>
          <a:ln/>
        </p:spPr>
        <p:txBody>
          <a:bodyPr wrap="square" lIns="0" tIns="0" rIns="0" bIns="0" rtlCol="0" anchor="t">
            <a:normAutofit/>
          </a:bodyPr>
          <a:lstStyle/>
          <a:p>
            <a:pPr algn="r" indent="0" marL="0">
              <a:lnSpc>
                <a:spcPct val="110000"/>
              </a:lnSpc>
              <a:spcBef>
                <a:spcPts val="0"/>
              </a:spcBef>
              <a:spcAft>
                <a:spcPts val="0"/>
              </a:spcAft>
              <a:buNone/>
            </a:pPr>
            <a:pPr algn="r" indent="0" marL="0">
              <a:lnSpc>
                <a:spcPts val="1680"/>
              </a:lnSpc>
              <a:buNone/>
            </a:pPr>
            <a:r>
              <a:rPr lang="en-US" sz="1200" b="1" spc="100" kern="0" dirty="0">
                <a:solidFill>
                  <a:srgbClr val="C8102E"/>
                </a:solidFill>
                <a:latin typeface="Public Sans" pitchFamily="34" charset="0"/>
                <a:ea typeface="Public Sans" pitchFamily="34" charset="-122"/>
                <a:cs typeface="Public Sans" pitchFamily="34" charset="-120"/>
              </a:rPr>
              <a:t>Doclock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20F"/>
        </a:solidFill>
      </p:bgPr>
    </p:bg>
    <p:spTree>
      <p:nvGrpSpPr>
        <p:cNvPr id="1" name=""/>
        <p:cNvGrpSpPr/>
        <p:nvPr/>
      </p:nvGrpSpPr>
      <p:grpSpPr>
        <a:xfrm>
          <a:off x="0" y="0"/>
          <a:ext cx="0" cy="0"/>
          <a:chOff x="0" y="0"/>
          <a:chExt cx="0" cy="0"/>
        </a:xfrm>
      </p:grpSpPr>
      <p:sp>
        <p:nvSpPr>
          <p:cNvPr id="2" name="Shape 0"/>
          <p:cNvSpPr/>
          <p:nvPr/>
        </p:nvSpPr>
        <p:spPr>
          <a:xfrm>
            <a:off x="0" y="0"/>
            <a:ext cx="152356" cy="6857999"/>
          </a:xfrm>
          <a:prstGeom prst="rect">
            <a:avLst/>
          </a:prstGeom>
          <a:solidFill>
            <a:srgbClr val="C8102E"/>
          </a:solidFill>
          <a:ln/>
        </p:spPr>
        <p:txBody>
          <a:bodyPr/>
          <a:p/>
        </p:txBody>
      </p:sp>
      <p:sp>
        <p:nvSpPr>
          <p:cNvPr id="3" name="Shape 1"/>
          <p:cNvSpPr/>
          <p:nvPr/>
        </p:nvSpPr>
        <p:spPr>
          <a:xfrm>
            <a:off x="812767" y="304769"/>
            <a:ext cx="10566466" cy="609534"/>
          </a:xfrm>
          <a:prstGeom prst="roundRect">
            <a:avLst>
              <a:gd name="adj" fmla="val 12501"/>
            </a:avLst>
          </a:prstGeom>
          <a:solidFill>
            <a:srgbClr val="F6F0E6"/>
          </a:solidFill>
          <a:ln/>
        </p:spPr>
        <p:txBody>
          <a:bodyPr/>
          <a:p/>
        </p:txBody>
      </p:sp>
      <p:pic>
        <p:nvPicPr>
          <p:cNvPr id="4" name="Image 0" descr="Atmiya University logo">    </p:cNvPr>
          <p:cNvPicPr>
            <a:picLocks noChangeAspect="1"/>
          </p:cNvPicPr>
          <p:nvPr/>
        </p:nvPicPr>
        <p:blipFill>
          <a:blip r:embed="rId1"/>
          <a:srcRect l="0" r="0" t="-43" b="-43"/>
          <a:stretch/>
        </p:blipFill>
        <p:spPr>
          <a:xfrm>
            <a:off x="1015945" y="406357"/>
            <a:ext cx="1428750" cy="406356"/>
          </a:xfrm>
          <a:prstGeom prst="rect">
            <a:avLst/>
          </a:prstGeom>
        </p:spPr>
      </p:pic>
      <p:pic>
        <p:nvPicPr>
          <p:cNvPr id="5" name="Image 1" descr="Centre for Research, Innovation and Translation logo">    </p:cNvPr>
          <p:cNvPicPr>
            <a:picLocks noChangeAspect="1"/>
          </p:cNvPicPr>
          <p:nvPr/>
        </p:nvPicPr>
        <p:blipFill>
          <a:blip r:embed="rId2"/>
          <a:srcRect l="-420" r="-420" t="0" b="0"/>
          <a:stretch/>
        </p:blipFill>
        <p:spPr>
          <a:xfrm>
            <a:off x="9264771" y="380950"/>
            <a:ext cx="457178" cy="457178"/>
          </a:xfrm>
          <a:prstGeom prst="rect">
            <a:avLst/>
          </a:prstGeom>
        </p:spPr>
      </p:pic>
      <p:pic>
        <p:nvPicPr>
          <p:cNvPr id="6" name="Image 2" descr="ADSC logo">    </p:cNvPr>
          <p:cNvPicPr>
            <a:picLocks noChangeAspect="1"/>
          </p:cNvPicPr>
          <p:nvPr/>
        </p:nvPicPr>
        <p:blipFill>
          <a:blip r:embed="rId3"/>
          <a:srcRect l="0" r="0" t="-111" b="-111"/>
          <a:stretch/>
        </p:blipFill>
        <p:spPr>
          <a:xfrm>
            <a:off x="9925127" y="469857"/>
            <a:ext cx="1250928" cy="279356"/>
          </a:xfrm>
          <a:prstGeom prst="rect">
            <a:avLst/>
          </a:prstGeom>
        </p:spPr>
      </p:pic>
      <p:sp>
        <p:nvSpPr>
          <p:cNvPr id="7" name="Text 2"/>
          <p:cNvSpPr/>
          <p:nvPr/>
        </p:nvSpPr>
        <p:spPr>
          <a:xfrm>
            <a:off x="812767" y="1092070"/>
            <a:ext cx="10883460" cy="238775"/>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F4350"/>
                </a:solidFill>
                <a:latin typeface="Public Sans" pitchFamily="34" charset="0"/>
                <a:ea typeface="Public Sans" pitchFamily="34" charset="-122"/>
                <a:cs typeface="Public Sans" pitchFamily="34" charset="-120"/>
              </a:rPr>
              <a:t>08 · THE VAULT</a:t>
            </a:r>
            <a:endParaRPr lang="en-US" sz="1200" dirty="0"/>
          </a:p>
        </p:txBody>
      </p:sp>
      <p:sp>
        <p:nvSpPr>
          <p:cNvPr id="8" name="Text 3"/>
          <p:cNvSpPr/>
          <p:nvPr>
            <p:ph type="title"/>
          </p:nvPr>
        </p:nvSpPr>
        <p:spPr>
          <a:xfrm>
            <a:off x="812767" y="1356215"/>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0E6"/>
                </a:solidFill>
                <a:latin typeface="Oswald" pitchFamily="34" charset="0"/>
                <a:ea typeface="Oswald" pitchFamily="34" charset="-122"/>
                <a:cs typeface="Oswald" pitchFamily="34" charset="-120"/>
              </a:rPr>
              <a:t>GITHUB REPOSITORY LINK</a:t>
            </a:r>
            <a:endParaRPr lang="en-US" sz="3200" dirty="0"/>
          </a:p>
        </p:txBody>
      </p:sp>
      <p:sp>
        <p:nvSpPr>
          <p:cNvPr id="10" name="Shape 5"/>
          <p:cNvSpPr/>
          <p:nvPr/>
        </p:nvSpPr>
        <p:spPr>
          <a:xfrm>
            <a:off x="819117" y="2271793"/>
            <a:ext cx="10553766" cy="856787"/>
          </a:xfrm>
          <a:prstGeom prst="roundRect">
            <a:avLst>
              <a:gd name="adj" fmla="val 8153"/>
            </a:avLst>
          </a:prstGeom>
          <a:noFill/>
          <a:ln w="12700">
            <a:solidFill>
              <a:srgbClr val="C8102E"/>
            </a:solidFill>
            <a:prstDash val="solid"/>
          </a:ln>
        </p:spPr>
        <p:txBody>
          <a:bodyPr/>
          <a:p/>
        </p:txBody>
      </p:sp>
      <p:pic>
        <p:nvPicPr>
          <p:cNvPr id="11" name="Image 3" descr="Link">    </p:cNvPr>
          <p:cNvPicPr>
            <a:picLocks noChangeAspect="1"/>
          </p:cNvPicPr>
          <p:nvPr/>
        </p:nvPicPr>
        <p:blipFill>
          <a:blip r:embed="rId4"/>
          <a:srcRect l="0" r="0" t="0" b="0"/>
          <a:stretch/>
        </p:blipFill>
        <p:spPr>
          <a:xfrm>
            <a:off x="1077350" y="2522364"/>
            <a:ext cx="355589" cy="355589"/>
          </a:xfrm>
          <a:prstGeom prst="rect">
            <a:avLst/>
          </a:prstGeom>
        </p:spPr>
      </p:pic>
      <p:sp>
        <p:nvSpPr>
          <p:cNvPr id="12" name="Text 6">
            <a:hlinkClick r:id="rId7"/>
          </p:cNvPr>
          <p:cNvSpPr/>
          <p:nvPr/>
        </p:nvSpPr>
        <p:spPr>
          <a:xfrm>
            <a:off x="1610706" y="2504616"/>
            <a:ext cx="9789061" cy="457200"/>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3080"/>
              </a:lnSpc>
              <a:buNone/>
            </a:pPr>
            <a:r>
              <a:rPr lang="en-US" sz="2400" dirty="0">
                <a:solidFill>
                  <a:srgbClr val="F6F0E6"/>
                </a:solidFill>
                <a:latin typeface="Oswald" pitchFamily="34" charset="0"/>
                <a:ea typeface="Oswald" pitchFamily="34" charset="-122"/>
                <a:cs typeface="Oswald" pitchFamily="34" charset="-120"/>
              </a:rPr>
              <a:t>https://github.com/Divya3996/SafeX-AI</a:t>
            </a:r>
            <a:endParaRPr lang="en-US" sz="2200" dirty="0"/>
          </a:p>
        </p:txBody>
      </p:sp>
      <p:sp>
        <p:nvSpPr>
          <p:cNvPr id="13" name="Shape 7"/>
          <p:cNvSpPr/>
          <p:nvPr/>
        </p:nvSpPr>
        <p:spPr>
          <a:xfrm>
            <a:off x="815942" y="3315872"/>
            <a:ext cx="2520972" cy="2522956"/>
          </a:xfrm>
          <a:prstGeom prst="roundRect">
            <a:avLst>
              <a:gd name="adj" fmla="val 2897"/>
            </a:avLst>
          </a:prstGeom>
          <a:noFill/>
          <a:ln w="6350">
            <a:solidFill>
              <a:srgbClr val="4A3F38"/>
            </a:solidFill>
            <a:prstDash val="solid"/>
          </a:ln>
        </p:spPr>
        <p:txBody>
          <a:bodyPr/>
          <a:p/>
        </p:txBody>
      </p:sp>
      <p:sp>
        <p:nvSpPr>
          <p:cNvPr id="14" name="Text 8"/>
          <p:cNvSpPr/>
          <p:nvPr/>
        </p:nvSpPr>
        <p:spPr>
          <a:xfrm>
            <a:off x="994062" y="3468582"/>
            <a:ext cx="2229675" cy="23877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F4350"/>
                </a:solidFill>
                <a:latin typeface="Public Sans" pitchFamily="34" charset="0"/>
                <a:ea typeface="Public Sans" pitchFamily="34" charset="-122"/>
                <a:cs typeface="Public Sans" pitchFamily="34" charset="-120"/>
              </a:rPr>
              <a:t>PUBLIC</a:t>
            </a:r>
            <a:endParaRPr lang="en-US" sz="1200" dirty="0"/>
          </a:p>
        </p:txBody>
      </p:sp>
      <p:sp>
        <p:nvSpPr>
          <p:cNvPr id="15" name="Text 9"/>
          <p:cNvSpPr/>
          <p:nvPr/>
        </p:nvSpPr>
        <p:spPr>
          <a:xfrm>
            <a:off x="994062" y="3732721"/>
            <a:ext cx="2229675" cy="1691640"/>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1755"/>
              </a:lnSpc>
              <a:buNone/>
            </a:pPr>
            <a:r>
              <a:rPr lang="en-US" sz="1800" dirty="0">
                <a:solidFill>
                  <a:srgbClr val="D9CFC2"/>
                </a:solidFill>
                <a:latin typeface="Public Sans" pitchFamily="34" charset="0"/>
                <a:ea typeface="Public Sans" pitchFamily="34" charset="-122"/>
                <a:cs typeface="Public Sans" pitchFamily="34" charset="-120"/>
              </a:rPr>
              <a:t>Public access verified.</a:t>
            </a:r>
            <a:endParaRPr lang="en-US" sz="1300" dirty="0"/>
          </a:p>
          <a:p>
            <a:pPr algn="l" indent="0" marL="0">
              <a:lnSpc>
                <a:spcPct val="110000"/>
              </a:lnSpc>
              <a:spcBef>
                <a:spcPts val="0"/>
              </a:spcBef>
              <a:spcAft>
                <a:spcPts val="0"/>
              </a:spcAft>
              <a:buNone/>
            </a:pPr>
            <a:r>
              <a:rPr lang="en-US" sz="1800" dirty="0">
                <a:solidFill>
                  <a:srgbClr val="D9CFC2"/>
                </a:solidFill>
                <a:latin typeface="Public Sans" pitchFamily="34" charset="0"/>
                <a:ea typeface="Public Sans" pitchFamily="34" charset="-122"/>
                <a:cs typeface="Public Sans" pitchFamily="34" charset="-120"/>
              </a:rPr>
              <a:t>No sign-in required.</a:t>
            </a:r>
          </a:p>
        </p:txBody>
      </p:sp>
      <p:sp>
        <p:nvSpPr>
          <p:cNvPr id="16" name="Shape 10"/>
          <p:cNvSpPr/>
          <p:nvPr/>
        </p:nvSpPr>
        <p:spPr>
          <a:xfrm>
            <a:off x="3495620" y="3315872"/>
            <a:ext cx="2521027" cy="2522956"/>
          </a:xfrm>
          <a:prstGeom prst="roundRect">
            <a:avLst>
              <a:gd name="adj" fmla="val 2897"/>
            </a:avLst>
          </a:prstGeom>
          <a:noFill/>
          <a:ln w="6350">
            <a:solidFill>
              <a:srgbClr val="4A3F38"/>
            </a:solidFill>
            <a:prstDash val="solid"/>
          </a:ln>
        </p:spPr>
        <p:txBody>
          <a:bodyPr/>
          <a:p/>
        </p:txBody>
      </p:sp>
      <p:sp>
        <p:nvSpPr>
          <p:cNvPr id="17" name="Text 11"/>
          <p:cNvSpPr/>
          <p:nvPr/>
        </p:nvSpPr>
        <p:spPr>
          <a:xfrm>
            <a:off x="3673739" y="3468582"/>
            <a:ext cx="2229731" cy="23877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F4350"/>
                </a:solidFill>
                <a:latin typeface="Public Sans" pitchFamily="34" charset="0"/>
                <a:ea typeface="Public Sans" pitchFamily="34" charset="-122"/>
                <a:cs typeface="Public Sans" pitchFamily="34" charset="-120"/>
              </a:rPr>
              <a:t>README</a:t>
            </a:r>
            <a:endParaRPr lang="en-US" sz="1200" dirty="0"/>
          </a:p>
        </p:txBody>
      </p:sp>
      <p:sp>
        <p:nvSpPr>
          <p:cNvPr id="18" name="Text 12"/>
          <p:cNvSpPr/>
          <p:nvPr/>
        </p:nvSpPr>
        <p:spPr>
          <a:xfrm>
            <a:off x="3673739" y="3732721"/>
            <a:ext cx="2229731" cy="1691640"/>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1755"/>
              </a:lnSpc>
              <a:buNone/>
            </a:pPr>
            <a:r>
              <a:rPr lang="en-US" sz="1800" dirty="0">
                <a:solidFill>
                  <a:srgbClr val="D9CFC2"/>
                </a:solidFill>
                <a:latin typeface="Public Sans" pitchFamily="34" charset="0"/>
                <a:ea typeface="Public Sans" pitchFamily="34" charset="-122"/>
                <a:cs typeface="Public Sans" pitchFamily="34" charset="-120"/>
              </a:rPr>
              <a:t>Setup, features, privacy and validation documented.</a:t>
            </a:r>
            <a:endParaRPr lang="en-US" sz="1300" dirty="0"/>
          </a:p>
        </p:txBody>
      </p:sp>
      <p:sp>
        <p:nvSpPr>
          <p:cNvPr id="19" name="Shape 13"/>
          <p:cNvSpPr/>
          <p:nvPr/>
        </p:nvSpPr>
        <p:spPr>
          <a:xfrm>
            <a:off x="6175353" y="3315872"/>
            <a:ext cx="2520972" cy="2522956"/>
          </a:xfrm>
          <a:prstGeom prst="roundRect">
            <a:avLst>
              <a:gd name="adj" fmla="val 2897"/>
            </a:avLst>
          </a:prstGeom>
          <a:noFill/>
          <a:ln w="6350">
            <a:solidFill>
              <a:srgbClr val="4A3F38"/>
            </a:solidFill>
            <a:prstDash val="solid"/>
          </a:ln>
        </p:spPr>
        <p:txBody>
          <a:bodyPr/>
          <a:p/>
        </p:txBody>
      </p:sp>
      <p:sp>
        <p:nvSpPr>
          <p:cNvPr id="20" name="Text 14"/>
          <p:cNvSpPr/>
          <p:nvPr/>
        </p:nvSpPr>
        <p:spPr>
          <a:xfrm>
            <a:off x="6353472" y="3468582"/>
            <a:ext cx="2229675" cy="23877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F4350"/>
                </a:solidFill>
                <a:latin typeface="Public Sans" pitchFamily="34" charset="0"/>
                <a:ea typeface="Public Sans" pitchFamily="34" charset="-122"/>
                <a:cs typeface="Public Sans" pitchFamily="34" charset="-120"/>
              </a:rPr>
              <a:t>COMMITS</a:t>
            </a:r>
            <a:endParaRPr lang="en-US" sz="1200" dirty="0"/>
          </a:p>
        </p:txBody>
      </p:sp>
      <p:sp>
        <p:nvSpPr>
          <p:cNvPr id="21" name="Text 15"/>
          <p:cNvSpPr/>
          <p:nvPr/>
        </p:nvSpPr>
        <p:spPr>
          <a:xfrm>
            <a:off x="6353472" y="3732721"/>
            <a:ext cx="2229675" cy="1691640"/>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1755"/>
              </a:lnSpc>
              <a:buNone/>
            </a:pPr>
            <a:r>
              <a:rPr lang="en-US" sz="1800" dirty="0">
                <a:solidFill>
                  <a:srgbClr val="D9CFC2"/>
                </a:solidFill>
                <a:latin typeface="Public Sans" pitchFamily="34" charset="0"/>
                <a:ea typeface="Public Sans" pitchFamily="34" charset="-122"/>
                <a:cs typeface="Public Sans" pitchFamily="34" charset="-120"/>
              </a:rPr>
              <a:t>Development history available. Final source sync pending.</a:t>
            </a:r>
            <a:endParaRPr lang="en-US" sz="1300" dirty="0"/>
          </a:p>
        </p:txBody>
      </p:sp>
      <p:sp>
        <p:nvSpPr>
          <p:cNvPr id="22" name="Shape 16"/>
          <p:cNvSpPr/>
          <p:nvPr/>
        </p:nvSpPr>
        <p:spPr>
          <a:xfrm>
            <a:off x="8855030" y="3315872"/>
            <a:ext cx="2521027" cy="2522956"/>
          </a:xfrm>
          <a:prstGeom prst="roundRect">
            <a:avLst>
              <a:gd name="adj" fmla="val 2897"/>
            </a:avLst>
          </a:prstGeom>
          <a:noFill/>
          <a:ln w="6350">
            <a:solidFill>
              <a:srgbClr val="4A3F38"/>
            </a:solidFill>
            <a:prstDash val="solid"/>
          </a:ln>
        </p:spPr>
        <p:txBody>
          <a:bodyPr/>
          <a:p/>
        </p:txBody>
      </p:sp>
      <p:sp>
        <p:nvSpPr>
          <p:cNvPr id="23" name="Text 17"/>
          <p:cNvSpPr/>
          <p:nvPr/>
        </p:nvSpPr>
        <p:spPr>
          <a:xfrm>
            <a:off x="9033150" y="3468582"/>
            <a:ext cx="2229731" cy="23877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F4350"/>
                </a:solidFill>
                <a:latin typeface="Public Sans" pitchFamily="34" charset="0"/>
                <a:ea typeface="Public Sans" pitchFamily="34" charset="-122"/>
                <a:cs typeface="Public Sans" pitchFamily="34" charset="-120"/>
              </a:rPr>
              <a:t>DEMO (OPTIONAL)</a:t>
            </a:r>
            <a:endParaRPr lang="en-US" sz="1200" dirty="0"/>
          </a:p>
        </p:txBody>
      </p:sp>
      <p:sp>
        <p:nvSpPr>
          <p:cNvPr id="24" name="Text 18">
            <a:hlinkClick r:id="rId8"/>
          </p:cNvPr>
          <p:cNvSpPr/>
          <p:nvPr/>
        </p:nvSpPr>
        <p:spPr>
          <a:xfrm>
            <a:off x="9033150" y="3732721"/>
            <a:ext cx="2339732" cy="365760"/>
          </a:xfrm>
          <a:prstGeom prst="rect">
            <a:avLst/>
          </a:prstGeom>
          <a:noFill/>
          <a:ln/>
        </p:spPr>
        <p:txBody>
          <a:bodyPr wrap="square" lIns="0" tIns="0" rIns="0" bIns="0" rtlCol="0" anchor="t">
            <a:normAutofit/>
          </a:bodyPr>
          <a:lstStyle/>
          <a:p>
            <a:pPr algn="l" indent="0" marL="0">
              <a:lnSpc>
                <a:spcPct val="110000"/>
              </a:lnSpc>
              <a:spcBef>
                <a:spcPts val="0"/>
              </a:spcBef>
              <a:spcAft>
                <a:spcPts val="0"/>
              </a:spcAft>
              <a:buNone/>
            </a:pPr>
            <a:pPr algn="l" indent="0" marL="0">
              <a:lnSpc>
                <a:spcPts val="1755"/>
              </a:lnSpc>
              <a:buNone/>
            </a:pPr>
            <a:r>
              <a:rPr lang="en-US" sz="1800" dirty="0">
                <a:solidFill>
                  <a:srgbClr val="D9CFC2"/>
                </a:solidFill>
                <a:latin typeface="Public Sans" pitchFamily="34" charset="0"/>
                <a:ea typeface="Public Sans" pitchFamily="34" charset="-122"/>
                <a:cs typeface="Public Sans" pitchFamily="34" charset="-120"/>
              </a:rPr>
              <a:t>Public jury demo</a:t>
            </a:r>
            <a:endParaRPr lang="en-US" sz="1300" dirty="0"/>
          </a:p>
        </p:txBody>
      </p:sp>
      <p:sp>
        <p:nvSpPr>
          <p:cNvPr id="25" name="Text 19"/>
          <p:cNvSpPr/>
          <p:nvPr/>
        </p:nvSpPr>
        <p:spPr>
          <a:xfrm>
            <a:off x="812767" y="6238273"/>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CFC2"/>
                </a:solidFill>
                <a:latin typeface="Public Sans" pitchFamily="34" charset="0"/>
                <a:ea typeface="Public Sans" pitchFamily="34" charset="-122"/>
                <a:cs typeface="Public Sans" pitchFamily="34" charset="-120"/>
              </a:rPr>
              <a:t>Code Carnival 3.0 · ADSC, Atmiya University</a:t>
            </a:r>
            <a:endParaRPr lang="en-US" sz="1200" dirty="0"/>
          </a:p>
        </p:txBody>
      </p:sp>
      <p:sp>
        <p:nvSpPr>
          <p:cNvPr id="26" name="Text 20"/>
          <p:cNvSpPr/>
          <p:nvPr/>
        </p:nvSpPr>
        <p:spPr>
          <a:xfrm>
            <a:off x="8108983" y="6238273"/>
            <a:ext cx="3270250" cy="238775"/>
          </a:xfrm>
          <a:prstGeom prst="rect">
            <a:avLst/>
          </a:prstGeom>
          <a:noFill/>
          <a:ln/>
        </p:spPr>
        <p:txBody>
          <a:bodyPr wrap="square" lIns="0" tIns="0" rIns="0" bIns="0" rtlCol="0" anchor="t">
            <a:normAutofit/>
          </a:bodyPr>
          <a:lstStyle/>
          <a:p>
            <a:pPr algn="r" indent="0" marL="0">
              <a:lnSpc>
                <a:spcPct val="110000"/>
              </a:lnSpc>
              <a:spcBef>
                <a:spcPts val="0"/>
              </a:spcBef>
              <a:spcAft>
                <a:spcPts val="0"/>
              </a:spcAft>
              <a:buNone/>
            </a:pPr>
            <a:pPr algn="r" indent="0" marL="0">
              <a:lnSpc>
                <a:spcPts val="1680"/>
              </a:lnSpc>
              <a:buNone/>
            </a:pPr>
            <a:r>
              <a:rPr lang="en-US" sz="1200" b="1" spc="100" kern="0" dirty="0">
                <a:solidFill>
                  <a:srgbClr val="EF4350"/>
                </a:solidFill>
                <a:latin typeface="Public Sans" pitchFamily="34" charset="0"/>
                <a:ea typeface="Public Sans" pitchFamily="34" charset="-122"/>
                <a:cs typeface="Public Sans" pitchFamily="34" charset="-120"/>
              </a:rPr>
              <a:t>Doclock</a:t>
            </a:r>
            <a:endParaRPr lang="en-US" sz="1200" dirty="0"/>
          </a:p>
        </p:txBody>
      </p:sp>
      <p:pic>
        <p:nvPicPr>
          <p:cNvPr id="27" name="Picture 26" descr="public-demo-qr.png">
            <a:hlinkClick r:id="rId8"/>
          </p:cNvPr>
          <p:cNvPicPr>
            <a:picLocks noChangeAspect="1"/>
          </p:cNvPicPr>
          <p:nvPr/>
        </p:nvPicPr>
        <p:blipFill>
          <a:blip r:embed="rId9"/>
          <a:stretch>
            <a:fillRect/>
          </a:stretch>
        </p:blipFill>
        <p:spPr>
          <a:xfrm>
            <a:off x="9390888" y="4297680"/>
            <a:ext cx="1417320" cy="1417320"/>
          </a:xfrm>
          <a:prstGeom prst="rect">
            <a:avLst/>
          </a:prstGeom>
        </p:spPr>
      </p:pic>
    </p:spTree>
  </p:cSld>
  <p:clrMapOvr>
    <a:masterClrMapping/>
  </p:clrMapOvr>
</p:sld>
</file>

<file path=ppt/theme/theme1.xml><?xml version="1.0" encoding="utf-8"?>
<a:theme xmlns:a="http://schemas.openxmlformats.org/drawingml/2006/main" name="Code Carnival 3.0 Idea Submission Template">
  <a:themeElements>
    <a:clrScheme name="Code Carnival 3.0 Idea Submission Template">
      <a:dk1>
        <a:srgbClr val="1E1917"/>
      </a:dk1>
      <a:lt1>
        <a:srgbClr val="F6F0E6"/>
      </a:lt1>
      <a:dk2>
        <a:srgbClr val="544F4B"/>
      </a:dk2>
      <a:lt2>
        <a:srgbClr val="E0DBD1"/>
      </a:lt2>
      <a:accent1>
        <a:srgbClr val="C8102E"/>
      </a:accent1>
      <a:accent2>
        <a:srgbClr val="EF4350"/>
      </a:accent2>
      <a:accent3>
        <a:srgbClr val="5A504A"/>
      </a:accent3>
      <a:accent4>
        <a:srgbClr val="D9CFC2"/>
      </a:accent4>
      <a:accent5>
        <a:srgbClr val="9AA0A6"/>
      </a:accent5>
      <a:accent6>
        <a:srgbClr val="746F6A"/>
      </a:accent6>
      <a:hlink>
        <a:srgbClr val="0563C1"/>
      </a:hlink>
      <a:folHlink>
        <a:srgbClr val="954F72"/>
      </a:folHlink>
    </a:clrScheme>
    <a:fontScheme name="Code Carnival 3.0 Idea Submission Template">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SafeX AI — Code Carnival 3.0 Final Submission</dc:title>
  <dc:subject>On-device threat, phishing and scam detection</dc:subject>
  <dc:creator>Divya Gohil; Krupa — Team Doclock</dc:creator>
  <cp:lastModifiedBy/>
  <cp:revision>1</cp:revision>
  <dcterms:created xsi:type="dcterms:W3CDTF">2026-10-08T15:43:46Z</dcterms:created>
  <dcterms:modified xsi:type="dcterms:W3CDTF">2026-10-08T15:43:46Z</dcterms:modified>
  <cp:keywords>SafeX AI, Doclock, M87V, offline AI, phishing, Android, Chrome</cp:keywords>
</cp:coreProperties>
</file>